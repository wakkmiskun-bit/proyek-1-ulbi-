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E91E63"/>
                </a:solidFill>
                <a:latin typeface="Arial"/>
              </a:defRPr>
            </a:pPr>
            <a:r>
              <a:t>TASKMATE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Sistem Manajemen Tugas &amp; Produktivitas Berbasis Web</a:t>
            </a:r>
          </a:p>
          <a:p>
            <a:pPr>
              <a:spcBef>
                <a:spcPts val="800"/>
              </a:spcBef>
              <a:defRPr sz="1500">
                <a:solidFill>
                  <a:srgbClr val="F06292"/>
                </a:solidFill>
                <a:latin typeface="Arial"/>
              </a:defRPr>
            </a:pPr>
            <a:r>
              <a:t>Laporan Akhir Presentasi Sidang Proyek 1</a:t>
            </a:r>
          </a:p>
        </p:txBody>
      </p:sp>
      <p:pic>
        <p:nvPicPr>
          <p:cNvPr id="5" name="Picture 4" descr="landin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731520"/>
            <a:ext cx="4389120" cy="24497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657600"/>
            <a:ext cx="5120640" cy="2468880"/>
          </a:xfrm>
          <a:prstGeom prst="roundRect">
            <a:avLst/>
          </a:prstGeom>
          <a:solidFill>
            <a:srgbClr val="23233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6292"/>
                </a:solidFill>
              </a:defRPr>
            </a:pPr>
            <a:r>
              <a:t>DISUSUN OLEH (KELOMPOK 26):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1. Muhammad Ilham Habiballah (NPM: 714250003)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2. Gianjar Nugraha (NPM: 714250007)</a:t>
            </a:r>
          </a:p>
          <a:p>
            <a:pPr>
              <a:spcBef>
                <a:spcPts val="1000"/>
              </a:spcBef>
              <a:defRPr sz="1100">
                <a:solidFill>
                  <a:srgbClr val="787878"/>
                </a:solidFill>
              </a:defRPr>
            </a:pPr>
            <a:r>
              <a:t>Program Studi D4 Teknik Informatika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23233C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6292"/>
                </a:solidFill>
              </a:defRPr>
            </a:pPr>
            <a:r>
              <a:t>DOSEN PEMBIMBING &amp; KOORDINATOR: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Pembimbing: Cahyo Prianto, S.Pd., M.T., CDSP, SFPC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Koordinator: M. Yusril Helmi Setyawan, S.Kom., M.Kom.</a:t>
            </a:r>
          </a:p>
          <a:p>
            <a:pPr>
              <a:spcBef>
                <a:spcPts val="1000"/>
              </a:spcBef>
              <a:defRPr sz="1100">
                <a:solidFill>
                  <a:srgbClr val="787878"/>
                </a:solidFill>
              </a:defRPr>
            </a:pPr>
            <a:r>
              <a:t>Universitas Logistik dan Bisnis Internasional (ULBI)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LATAR BELAKANG PENGEMBANGAN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KONTEKS AKADEMIK MAHASISWA ULBI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E91E63"/>
                </a:solidFill>
              </a:defRPr>
            </a:pPr>
            <a:r>
              <a:t>📌 Kesibukan Aktivitas Mahasiswa: </a:t>
            </a:r>
            <a:r>
              <a:rPr b="0" sz="1050">
                <a:solidFill>
                  <a:srgbClr val="282828"/>
                </a:solidFill>
              </a:rPr>
              <a:t>Mahasiswa D4 Teknik Informatika ULBI menghadapi padatnya aktivitas akademik mulai dari praktikum, tugas harian, dan tugas kelompok secara serentak.</a:t>
            </a:r>
          </a:p>
          <a:p>
            <a:pPr>
              <a:spcBef>
                <a:spcPts val="1000"/>
              </a:spcBef>
              <a:defRPr b="1" sz="1150">
                <a:solidFill>
                  <a:srgbClr val="E91E63"/>
                </a:solidFill>
              </a:defRPr>
            </a:pPr>
            <a:r>
              <a:t>📌 Kelemahan Pencatatan Konvensional: </a:t>
            </a:r>
            <a:r>
              <a:rPr b="0" sz="1050">
                <a:solidFill>
                  <a:srgbClr val="282828"/>
                </a:solidFill>
              </a:rPr>
              <a:t>Metode pencatatan konvensional (buku fisik/notes hp biasa) bersifat pasif, tidak terpusat, dan tidak memiliki sistem pengingat otomatis yang proaktif.</a:t>
            </a:r>
          </a:p>
          <a:p>
            <a:pPr>
              <a:spcBef>
                <a:spcPts val="1000"/>
              </a:spcBef>
              <a:defRPr b="1" sz="1150">
                <a:solidFill>
                  <a:srgbClr val="E91E63"/>
                </a:solidFill>
              </a:defRPr>
            </a:pPr>
            <a:r>
              <a:t>📌 Kebutuhan Monitoring Akademik: </a:t>
            </a:r>
            <a:r>
              <a:rPr b="0" sz="1050">
                <a:solidFill>
                  <a:srgbClr val="282828"/>
                </a:solidFill>
              </a:rPr>
              <a:t>Administrator akademik memerlukan sarana monitoring real-time untuk melihat perkembangan progres tugas dan kedisiplinan belajar mahasiswa.</a:t>
            </a:r>
          </a:p>
          <a:p>
            <a:pPr>
              <a:spcBef>
                <a:spcPts val="1000"/>
              </a:spcBef>
              <a:defRPr b="1" sz="1150">
                <a:solidFill>
                  <a:srgbClr val="E91E63"/>
                </a:solidFill>
              </a:defRPr>
            </a:pPr>
            <a:r>
              <a:t>📌 Pemanfaatan Web &amp; WA Gateway: </a:t>
            </a:r>
            <a:r>
              <a:rPr b="0" sz="1050">
                <a:solidFill>
                  <a:srgbClr val="282828"/>
                </a:solidFill>
              </a:rPr>
              <a:t>Laravel dan Tailwind CSS digunakan untuk membangun platform visual Kanban yang terintegrasi dengan WhatsApp Gateway Fonnte API sebagai asisten pengingat.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TUJUAN PENGEMBANGAN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TUJUAN UMUM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82828"/>
                </a:solidFill>
              </a:defRPr>
            </a:pPr>
            <a:r>
              <a:t>Membangun &amp; mengimplementasikan aplikasi manajemen tugas berbasis web (TaskMate) menggunakan Laravel, Tailwind CSS, dan MySQL untuk meningkatkan efisiensi waktu, manajemen prioritas, serta produktivitas akademik mahasiswa ULBI.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TUJUAN KHUSUS (TARGET LUARAN)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>
                <a:solidFill>
                  <a:srgbClr val="282828"/>
                </a:solidFill>
              </a:defRPr>
            </a:pPr>
            <a:r>
              <a:t>🎯 Otorisasi hak akses Multi-role (Admin vs Mahasiswa) terisolasi.</a:t>
            </a:r>
          </a:p>
          <a:p>
            <a:pPr>
              <a:spcBef>
                <a:spcPts val="800"/>
              </a:spcBef>
              <a:defRPr sz="1050">
                <a:solidFill>
                  <a:srgbClr val="282828"/>
                </a:solidFill>
              </a:defRPr>
            </a:pPr>
            <a:r>
              <a:t>🎯 Fitur Manajemen Tugas (CRUD) lengkap dengan prioritas &amp; deadline.</a:t>
            </a:r>
          </a:p>
          <a:p>
            <a:pPr>
              <a:spcBef>
                <a:spcPts val="800"/>
              </a:spcBef>
              <a:defRPr sz="1050">
                <a:solidFill>
                  <a:srgbClr val="282828"/>
                </a:solidFill>
              </a:defRPr>
            </a:pPr>
            <a:r>
              <a:t>🎯 Modul Kanban Board visual 4 kolom (To Do, Doing, Review, Done).</a:t>
            </a:r>
          </a:p>
          <a:p>
            <a:pPr>
              <a:spcBef>
                <a:spcPts val="800"/>
              </a:spcBef>
              <a:defRPr sz="1050">
                <a:solidFill>
                  <a:srgbClr val="282828"/>
                </a:solidFill>
              </a:defRPr>
            </a:pPr>
            <a:r>
              <a:t>🎯 Integrasi WhatsApp Service API Fonnte untuk pengiriman naskah pengingat H-5 &amp; H-2 (Manual Dispatch).</a:t>
            </a:r>
          </a:p>
          <a:p>
            <a:pPr>
              <a:spcBef>
                <a:spcPts val="800"/>
              </a:spcBef>
              <a:defRPr sz="1050">
                <a:solidFill>
                  <a:srgbClr val="282828"/>
                </a:solidFill>
              </a:defRPr>
            </a:pPr>
            <a:r>
              <a:t>🎯 Dasbor Monitoring Admin dengan statistik real-time &amp; audit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PERMASALAHAN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IDENTIFIKASI PERMASALAHAN AKADEMIK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1A1A2E"/>
                </a:solidFill>
              </a:defRPr>
            </a:pPr>
            <a:r>
              <a:t>❌ Prokrastinasi &amp; Kelupaan Batas Waktu: </a:t>
            </a:r>
            <a:r>
              <a:rPr b="0" sz="1050">
                <a:solidFill>
                  <a:srgbClr val="282828"/>
                </a:solidFill>
              </a:rPr>
              <a:t>Banyaknya tenggat waktu (due date) yang beragam memicu kelupaan tugas, penundaan pekerjaan, &amp; penumpukan tugas di akhir semester.</a:t>
            </a:r>
          </a:p>
          <a:p>
            <a:pPr>
              <a:spcBef>
                <a:spcPts val="1000"/>
              </a:spcBef>
              <a:defRPr b="1" sz="1150">
                <a:solidFill>
                  <a:srgbClr val="1A1A2E"/>
                </a:solidFill>
              </a:defRPr>
            </a:pPr>
            <a:r>
              <a:t>❌ Tidak Adanya Pengingat Otomatis: </a:t>
            </a:r>
            <a:r>
              <a:rPr b="0" sz="1050">
                <a:solidFill>
                  <a:srgbClr val="282828"/>
                </a:solidFill>
              </a:rPr>
              <a:t>Sistem pencatatan konvensional bersifat pasif &amp; tidak dapat mengirimkan notifikasi pengingat otomatis ke handphone mahasiswa sebelum batas waktu habis.</a:t>
            </a:r>
          </a:p>
          <a:p>
            <a:pPr>
              <a:spcBef>
                <a:spcPts val="1000"/>
              </a:spcBef>
              <a:defRPr b="1" sz="1150">
                <a:solidFill>
                  <a:srgbClr val="1A1A2E"/>
                </a:solidFill>
              </a:defRPr>
            </a:pPr>
            <a:r>
              <a:t>❌ Kesulitan Pengurutan Prioritas: </a:t>
            </a:r>
            <a:r>
              <a:rPr b="0" sz="1050">
                <a:solidFill>
                  <a:srgbClr val="282828"/>
                </a:solidFill>
              </a:rPr>
              <a:t>Mahasiswa kesulitan memvisualisasikan alur pengerjaan tugas akademik secara dinamis (tugas mana yang belum, sedang, atau selesai dikerjakan).</a:t>
            </a:r>
          </a:p>
          <a:p>
            <a:pPr>
              <a:spcBef>
                <a:spcPts val="1000"/>
              </a:spcBef>
              <a:defRPr b="1" sz="1150">
                <a:solidFill>
                  <a:srgbClr val="1A1A2E"/>
                </a:solidFill>
              </a:defRPr>
            </a:pPr>
            <a:r>
              <a:t>❌ Minimnya Sarana Pengawasan: </a:t>
            </a:r>
            <a:r>
              <a:rPr b="0" sz="1050">
                <a:solidFill>
                  <a:srgbClr val="282828"/>
                </a:solidFill>
              </a:rPr>
              <a:t>Pengelola akademik/Admin kesulitan memantau keaktifan tugas mahasiswa secara waktu nyata &amp; tidak adanya log aktivitas sistem.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TAMPILAN APLIKASI &amp; MODUL UI/UX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MODUL ANTARMUKA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E91E63"/>
                </a:solidFill>
              </a:defRPr>
            </a:pPr>
            <a:r>
              <a:t>📱 Dashboard Mahasiswa: </a:t>
            </a:r>
            <a:r>
              <a:rPr b="0" sz="1050">
                <a:solidFill>
                  <a:srgbClr val="282828"/>
                </a:solidFill>
              </a:rPr>
              <a:t>Widget ringkasan data tugas aktif/selesai, progress bar kelulusan tugas, kalender tenggat, &amp; feed notifikasi.</a:t>
            </a:r>
          </a:p>
          <a:p>
            <a:pPr>
              <a:spcBef>
                <a:spcPts val="1000"/>
              </a:spcBef>
              <a:defRPr b="1" sz="1150">
                <a:solidFill>
                  <a:srgbClr val="E91E63"/>
                </a:solidFill>
              </a:defRPr>
            </a:pPr>
            <a:r>
              <a:t>📱 Interactive Kanban Board: </a:t>
            </a:r>
            <a:r>
              <a:rPr b="0" sz="1050">
                <a:solidFill>
                  <a:srgbClr val="282828"/>
                </a:solidFill>
              </a:rPr>
              <a:t>4 Kolom visual (To Do, Doing, Review, Done) dengan drag-and-drop SortableJS &amp; auto-done 100% checklist.</a:t>
            </a:r>
          </a:p>
          <a:p>
            <a:pPr>
              <a:spcBef>
                <a:spcPts val="1000"/>
              </a:spcBef>
              <a:defRPr b="1" sz="1150">
                <a:solidFill>
                  <a:srgbClr val="E91E63"/>
                </a:solidFill>
              </a:defRPr>
            </a:pPr>
            <a:r>
              <a:t>📱 Admin Control Panel: </a:t>
            </a:r>
            <a:r>
              <a:rPr b="0" sz="1050">
                <a:solidFill>
                  <a:srgbClr val="282828"/>
                </a:solidFill>
              </a:rPr>
              <a:t>Dasbor total mahasiswa, live board monitoring board mahasiswa, kelola akun (CRUD), dan log riwayat audit aktivitas.</a:t>
            </a:r>
          </a:p>
        </p:txBody>
      </p:sp>
      <p:pic>
        <p:nvPicPr>
          <p:cNvPr id="11" name="Picture 10" descr="student_kanb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2858032"/>
          </a:xfrm>
          <a:prstGeom prst="rect">
            <a:avLst/>
          </a:prstGeom>
        </p:spPr>
      </p:pic>
      <p:pic>
        <p:nvPicPr>
          <p:cNvPr id="12" name="Picture 11" descr="admin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49039"/>
            <a:ext cx="5120640" cy="285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DATABASE MYSQL / SCHEMA ERD (SUNNAH)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1E63"/>
                </a:solidFill>
              </a:defRPr>
            </a:pPr>
            <a:r>
              <a:t>STRUKTUR ENTITAS BASIS DATA &amp; RELASI RELASIONAL:</a:t>
            </a:r>
          </a:p>
          <a:p>
            <a:pPr>
              <a:spcBef>
                <a:spcPts val="800"/>
              </a:spcBef>
              <a:defRPr b="1" sz="1100">
                <a:solidFill>
                  <a:srgbClr val="1A1A2E"/>
                </a:solidFill>
              </a:defRPr>
            </a:pPr>
            <a:r>
              <a:t>📊 Tabel mahasiswas (PK: id): </a:t>
            </a:r>
            <a:r>
              <a:rPr b="0" sz="1050">
                <a:solidFill>
                  <a:srgbClr val="282828"/>
                </a:solidFill>
              </a:rPr>
              <a:t>nim (UK), nama, email (UK), password, phone, foto, universitas, semester</a:t>
            </a:r>
          </a:p>
          <a:p>
            <a:pPr>
              <a:spcBef>
                <a:spcPts val="800"/>
              </a:spcBef>
              <a:defRPr b="1" sz="1100">
                <a:solidFill>
                  <a:srgbClr val="1A1A2E"/>
                </a:solidFill>
              </a:defRPr>
            </a:pPr>
            <a:r>
              <a:t>📊 Tabel tasks (PK: id, FK: mahasiswa_id): </a:t>
            </a:r>
            <a:r>
              <a:rPr b="0" sz="1050">
                <a:solidFill>
                  <a:srgbClr val="282828"/>
                </a:solidFill>
              </a:rPr>
              <a:t>title, description, status (todo, doing, review, done), deadline, priority, checklist (JSON)</a:t>
            </a:r>
          </a:p>
          <a:p>
            <a:pPr>
              <a:spcBef>
                <a:spcPts val="800"/>
              </a:spcBef>
              <a:defRPr b="1" sz="1100">
                <a:solidFill>
                  <a:srgbClr val="1A1A2E"/>
                </a:solidFill>
              </a:defRPr>
            </a:pPr>
            <a:r>
              <a:t>📊 Tabel activities (PK: id, FK: mahasiswa_id): </a:t>
            </a:r>
            <a:r>
              <a:rPr b="0" sz="1050">
                <a:solidFill>
                  <a:srgbClr val="282828"/>
                </a:solidFill>
              </a:rPr>
              <a:t>activity_text, status_tugas, created_at (Audit trail log sistem)</a:t>
            </a:r>
          </a:p>
          <a:p>
            <a:pPr>
              <a:spcBef>
                <a:spcPts val="800"/>
              </a:spcBef>
              <a:defRPr b="1" sz="1100">
                <a:solidFill>
                  <a:srgbClr val="1A1A2E"/>
                </a:solidFill>
              </a:defRPr>
            </a:pPr>
            <a:r>
              <a:t>📊 Tabel task_reminders (PK: id, FK: task_id, mahasiswa_id): </a:t>
            </a:r>
            <a:r>
              <a:rPr b="0" sz="1050">
                <a:solidFill>
                  <a:srgbClr val="282828"/>
                </a:solidFill>
              </a:rPr>
              <a:t>days_before (5/2), sent_at (Catatan log status kirim WA Fonnte)</a:t>
            </a:r>
          </a:p>
          <a:p>
            <a:pPr>
              <a:spcBef>
                <a:spcPts val="800"/>
              </a:spcBef>
              <a:defRPr b="1" sz="1100">
                <a:solidFill>
                  <a:srgbClr val="1A1A2E"/>
                </a:solidFill>
              </a:defRPr>
            </a:pPr>
            <a:r>
              <a:t>📊 Tabel admins (PK: id): </a:t>
            </a:r>
            <a:r>
              <a:rPr b="0" sz="1050">
                <a:solidFill>
                  <a:srgbClr val="282828"/>
                </a:solidFill>
              </a:rPr>
              <a:t>nama, email (UK), password (Akun operator administrator)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ALUR KERJA APLIKASI &amp; LAYANAN PUSAT BANTUAN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ALUR OPERASIONAL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00">
                <a:solidFill>
                  <a:srgbClr val="E91E63"/>
                </a:solidFill>
              </a:defRPr>
            </a:pPr>
            <a:r>
              <a:t>🔄 1. Registrasi &amp; Login: </a:t>
            </a:r>
            <a:r>
              <a:rPr b="0" sz="950">
                <a:solidFill>
                  <a:srgbClr val="282828"/>
                </a:solidFill>
              </a:rPr>
              <a:t>Mahasiswa daftar (Bcrypt) -&gt; Login via Web Guard Auth ke workspace.</a:t>
            </a:r>
          </a:p>
          <a:p>
            <a:pPr>
              <a:spcBef>
                <a:spcPts val="600"/>
              </a:spcBef>
              <a:defRPr b="1" sz="1100">
                <a:solidFill>
                  <a:srgbClr val="E91E63"/>
                </a:solidFill>
              </a:defRPr>
            </a:pPr>
            <a:r>
              <a:t>🔄 2. Input Tugas Baru: </a:t>
            </a:r>
            <a:r>
              <a:rPr b="0" sz="950">
                <a:solidFill>
                  <a:srgbClr val="282828"/>
                </a:solidFill>
              </a:rPr>
              <a:t>Submit data tugas via AJAX -&gt; Otomatis masuk status 'TO DO'.</a:t>
            </a:r>
          </a:p>
          <a:p>
            <a:pPr>
              <a:spcBef>
                <a:spcPts val="600"/>
              </a:spcBef>
              <a:defRPr b="1" sz="1100">
                <a:solidFill>
                  <a:srgbClr val="E91E63"/>
                </a:solidFill>
              </a:defRPr>
            </a:pPr>
            <a:r>
              <a:t>🔄 3. Kanban &amp; Auto-Done: </a:t>
            </a:r>
            <a:r>
              <a:rPr b="0" sz="950">
                <a:solidFill>
                  <a:srgbClr val="282828"/>
                </a:solidFill>
              </a:rPr>
              <a:t>Drag &amp; Drop tugas. Checklist 100% otomatis geser task ke status DONE.</a:t>
            </a:r>
          </a:p>
          <a:p>
            <a:pPr>
              <a:spcBef>
                <a:spcPts val="600"/>
              </a:spcBef>
              <a:defRPr b="1" sz="1100">
                <a:solidFill>
                  <a:srgbClr val="E91E63"/>
                </a:solidFill>
              </a:defRPr>
            </a:pPr>
            <a:r>
              <a:t>🔄 4. Pengiriman Pengingat Manual: </a:t>
            </a:r>
            <a:r>
              <a:rPr b="0" sz="950">
                <a:solidFill>
                  <a:srgbClr val="282828"/>
                </a:solidFill>
              </a:rPr>
              <a:t>Administrator memicu command PHP Artisan `tasks:send-deadline-reminders` untuk kirim pengingat tugas H-5 &amp; H-2 deadline via Fonnte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91E63"/>
                </a:solidFill>
                <a:latin typeface="Arial"/>
              </a:defRPr>
            </a:pPr>
            <a:r>
              <a:t>BANTUAN UNTUK MENGHUBUNGI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00">
                <a:solidFill>
                  <a:srgbClr val="F06292"/>
                </a:solidFill>
              </a:defRPr>
            </a:pPr>
            <a:r>
              <a:t>💬 Modul Pusat Bantuan Mahasiswa: </a:t>
            </a:r>
            <a:r>
              <a:rPr b="0" sz="950">
                <a:solidFill>
                  <a:srgbClr val="282828"/>
                </a:solidFill>
              </a:rPr>
              <a:t>Mahasiswa dapat mengakses halaman Bantuan (Help Center) langsung dari dashboard mereka jika menemui kendala teknis.</a:t>
            </a:r>
          </a:p>
          <a:p>
            <a:pPr>
              <a:spcBef>
                <a:spcPts val="1000"/>
              </a:spcBef>
              <a:defRPr b="1" sz="1100">
                <a:solidFill>
                  <a:srgbClr val="F06292"/>
                </a:solidFill>
              </a:defRPr>
            </a:pPr>
            <a:r>
              <a:t>💬 WhatsApp Hubungi Admin: </a:t>
            </a:r>
            <a:r>
              <a:rPr b="0" sz="950">
                <a:solidFill>
                  <a:srgbClr val="282828"/>
                </a:solidFill>
              </a:rPr>
              <a:t>Sistem menyediakan tombol khusus terintegrasi WhatsApp (Direct API). Mahasiswa dapat mengirimkan pesan aduan kendala dengan teks template otomatis.</a:t>
            </a:r>
          </a:p>
          <a:p>
            <a:pPr>
              <a:spcBef>
                <a:spcPts val="1000"/>
              </a:spcBef>
              <a:defRPr b="1" sz="1100">
                <a:solidFill>
                  <a:srgbClr val="F06292"/>
                </a:solidFill>
              </a:defRPr>
            </a:pPr>
            <a:r>
              <a:t>💬 Respon Cepat &amp; Solutif: </a:t>
            </a:r>
            <a:r>
              <a:rPr b="0" sz="950">
                <a:solidFill>
                  <a:srgbClr val="282828"/>
                </a:solidFill>
              </a:rPr>
              <a:t>Mempermudah komunikasi dua arah antara Mahasiswa dan Admin ULBI untuk verifikasi bug, reset sandi, atau panduan penggunaan sistem.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HASIL AKHIR &amp; 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26: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E91E63"/>
                </a:solidFill>
              </a:defRPr>
            </a:pPr>
            <a:r>
              <a:t>✅ 1. Implementasi Fungsional 100%: </a:t>
            </a:r>
            <a:r>
              <a:rPr b="0" sz="1050">
                <a:solidFill>
                  <a:srgbClr val="282828"/>
                </a:solidFill>
              </a:rPr>
              <a:t>Seluruh target luaran sistem (Multi-role Auth, CRUD tugas, Kanban Board, Scheduler, WA Gateway) telah sukses dibangun.</a:t>
            </a:r>
          </a:p>
          <a:p>
            <a:pPr>
              <a:spcBef>
                <a:spcPts val="1200"/>
              </a:spcBef>
              <a:defRPr b="1" sz="1150">
                <a:solidFill>
                  <a:srgbClr val="E91E63"/>
                </a:solidFill>
              </a:defRPr>
            </a:pPr>
            <a:r>
              <a:t>✅ 2. Peningkatan Produktivitas &amp; Disiplin: </a:t>
            </a:r>
            <a:r>
              <a:rPr b="0" sz="1050">
                <a:solidFill>
                  <a:srgbClr val="282828"/>
                </a:solidFill>
              </a:rPr>
              <a:t>Papan Kanban memvisualisasikan alur tugas dengan jelas, sementara WhatsApp Gateway proaktif menekan angka kelupaan/keterlambatan tugas.</a:t>
            </a:r>
          </a:p>
          <a:p>
            <a:pPr>
              <a:spcBef>
                <a:spcPts val="1200"/>
              </a:spcBef>
              <a:defRPr b="1" sz="1150">
                <a:solidFill>
                  <a:srgbClr val="E91E63"/>
                </a:solidFill>
              </a:defRPr>
            </a:pPr>
            <a:r>
              <a:t>✅ 3. Transparansi Pengawasan: </a:t>
            </a:r>
            <a:r>
              <a:rPr b="0" sz="1050">
                <a:solidFill>
                  <a:srgbClr val="282828"/>
                </a:solidFill>
              </a:rPr>
              <a:t>Dasbor admin memberikan kemudahan bagi pengelola akademik untuk memantau progres tugas mahasiswa serta mencatat riwayat log audit aktivitas.</a:t>
            </a:r>
          </a:p>
          <a:p>
            <a:pPr>
              <a:spcBef>
                <a:spcPts val="1200"/>
              </a:spcBef>
              <a:defRPr b="1" sz="1150">
                <a:solidFill>
                  <a:srgbClr val="E91E63"/>
                </a:solidFill>
              </a:defRPr>
            </a:pPr>
            <a:r>
              <a:t>✅ 4. Rencana Pengembangan: </a:t>
            </a:r>
            <a:r>
              <a:rPr b="0" sz="1050">
                <a:solidFill>
                  <a:srgbClr val="282828"/>
                </a:solidFill>
              </a:rPr>
              <a:t>Ke depannya dapat ditingkatkan dengan bot WhatsApp interaktif dua arah, grafik analitik produktivitas mingguan, &amp; Progressive Web App (PWA).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91E63"/>
                </a:solidFill>
              </a:defRPr>
            </a:pPr>
            <a:r>
              <a:t>TERIMA KASIH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  <a:r>
              <a:t>Sesi Tanya Jawab (Q &amp; A) &amp; Demo Live Aplikasi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06292"/>
                </a:solidFill>
              </a:defRPr>
            </a:pPr>
            <a:r>
              <a:t>TaskMate: Teman Belajar &amp; Solusi Manajemen Tugas Mahasiswa</a:t>
            </a:r>
            <a:br/>
            <a:r>
              <a:t>Universitas Logistik dan Bisnis Internasional (ULBI)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