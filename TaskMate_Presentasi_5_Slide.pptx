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6217920" cy="2286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sz="5400" b="1">
                <a:solidFill>
                  <a:srgbClr val="E91E63"/>
                </a:solidFill>
                <a:latin typeface="Arial"/>
              </a:defRPr>
            </a:pPr>
            <a:r>
              <a:t>TASKMATE</a:t>
            </a:r>
          </a:p>
          <a:p>
            <a:pPr>
              <a:spcBef>
                <a:spcPts val="6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Sistem Manajemen Tugas &amp; Produktivitas Berbasis Web</a:t>
            </a:r>
          </a:p>
          <a:p>
            <a:pPr>
              <a:spcBef>
                <a:spcPts val="800"/>
              </a:spcBef>
              <a:defRPr sz="1500">
                <a:solidFill>
                  <a:srgbClr val="F06292"/>
                </a:solidFill>
                <a:latin typeface="Arial"/>
              </a:defRPr>
            </a:pPr>
            <a:r>
              <a:t>Laporan Akhir Presentasi Sidang Proyek 1</a:t>
            </a:r>
          </a:p>
        </p:txBody>
      </p:sp>
      <p:pic>
        <p:nvPicPr>
          <p:cNvPr id="5" name="Picture 4" descr="landing_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731520"/>
            <a:ext cx="438912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32320" y="731520"/>
            <a:ext cx="4389120" cy="2743200"/>
          </a:xfrm>
          <a:prstGeom prst="rect">
            <a:avLst/>
          </a:prstGeom>
          <a:noFill/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5120640" cy="2468880"/>
          </a:xfrm>
          <a:prstGeom prst="roundRect">
            <a:avLst/>
          </a:prstGeom>
          <a:solidFill>
            <a:srgbClr val="23233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475488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sz="1200" b="1">
                <a:solidFill>
                  <a:srgbClr val="F06292"/>
                </a:solidFill>
              </a:defRPr>
            </a:pPr>
            <a:r>
              <a:t>DISUSUN OLEH (KELOMPOK 22):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1. Muhammad Ilham Habiballah (NPM: 714250003)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2. Gianjar Nugraha (NPM: 714250007)</a:t>
            </a:r>
          </a:p>
          <a:p>
            <a:pPr>
              <a:spcBef>
                <a:spcPts val="1200"/>
              </a:spcBef>
              <a:defRPr sz="1100">
                <a:solidFill>
                  <a:srgbClr val="787878"/>
                </a:solidFill>
              </a:defRPr>
            </a:pPr>
            <a:r>
              <a:t>Program Studi D4 Teknik Informatika</a:t>
            </a:r>
            <a:br/>
            <a:r>
              <a:t>Universitas Logistik &amp; Bisnis Internasional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212080" cy="2468880"/>
          </a:xfrm>
          <a:prstGeom prst="roundRect">
            <a:avLst/>
          </a:prstGeom>
          <a:solidFill>
            <a:srgbClr val="23233C"/>
          </a:solidFill>
          <a:ln w="19050">
            <a:solidFill>
              <a:srgbClr val="F06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4846320" cy="21945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sz="1200" b="1">
                <a:solidFill>
                  <a:srgbClr val="F06292"/>
                </a:solidFill>
              </a:defRPr>
            </a:pPr>
            <a:r>
              <a:t>DOSEN PEMBIMBING &amp; INSTITUSI: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Pembimbing: Cahyo Prianto, S.Pd., M.T., CDSP, SFPC</a:t>
            </a:r>
          </a:p>
          <a:p>
            <a:pPr>
              <a:spcBef>
                <a:spcPts val="600"/>
              </a:spcBef>
              <a:defRPr sz="1250">
                <a:solidFill>
                  <a:srgbClr val="FFFFFF"/>
                </a:solidFill>
              </a:defRPr>
            </a:pPr>
            <a:r>
              <a:t>Tahun Akademik: 2025/2026</a:t>
            </a:r>
          </a:p>
          <a:p>
            <a:pPr>
              <a:spcBef>
                <a:spcPts val="2000"/>
              </a:spcBef>
              <a:defRPr sz="1100">
                <a:solidFill>
                  <a:srgbClr val="787878"/>
                </a:solidFill>
              </a:defRPr>
            </a:pPr>
            <a:r>
              <a:t>D4 Teknik Informatika ULBI 2026  |  TASKMATE.ULBI.AC.ID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06292"/>
                </a:solidFill>
                <a:latin typeface="Arial"/>
              </a:defRPr>
            </a:pPr>
            <a:r>
              <a:t>TASKMATE - PRESENTASI SIDANG PROYEK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Latar Belakang &amp; Tujuan Solutif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787878"/>
                </a:solidFill>
                <a:latin typeface="Arial"/>
              </a:defRPr>
            </a:pPr>
            <a:r>
              <a:t>TaskMate v2.0 | D4 Teknik Informatika ULBI 2026 | Kelompok 22: M. Ilham Habiballah &amp; Gianjar Nugraha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37160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71600"/>
            <a:ext cx="411480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>
              <a:defRPr sz="1600" b="1">
                <a:solidFill>
                  <a:srgbClr val="1A1A2E"/>
                </a:solidFill>
              </a:defRPr>
            </a:pPr>
            <a:r>
              <a:t>Identifikasi 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20240"/>
            <a:ext cx="4663440" cy="21031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282828"/>
                </a:solidFill>
              </a:defRPr>
            </a:pPr>
            <a:r>
              <a:rPr b="1">
                <a:solidFill>
                  <a:srgbClr val="E91E63"/>
                </a:solidFill>
              </a:rPr>
              <a:t>1   Beban aktivitas akademik mahasiswa D4 TI ULBI yang sangat padat.</a:t>
            </a:r>
          </a:p>
          <a:p>
            <a:pPr>
              <a:spcAft>
                <a:spcPts val="500"/>
              </a:spcAft>
              <a:defRPr sz="1050">
                <a:solidFill>
                  <a:srgbClr val="282828"/>
                </a:solidFill>
              </a:defRPr>
            </a:pPr>
            <a:r>
              <a:rPr b="1">
                <a:solidFill>
                  <a:srgbClr val="E91E63"/>
                </a:solidFill>
              </a:rPr>
              <a:t>2   Pencatatan tugas harian/praktikum konvensional bersifat pasif.</a:t>
            </a:r>
          </a:p>
          <a:p>
            <a:pPr>
              <a:spcAft>
                <a:spcPts val="500"/>
              </a:spcAft>
              <a:defRPr sz="1050">
                <a:solidFill>
                  <a:srgbClr val="282828"/>
                </a:solidFill>
              </a:defRPr>
            </a:pPr>
            <a:r>
              <a:rPr b="1">
                <a:solidFill>
                  <a:srgbClr val="E91E63"/>
                </a:solidFill>
              </a:rPr>
              <a:t>3   Ketiadaan pengingat proaktif yang terintegrasi (forgetfulness).</a:t>
            </a:r>
          </a:p>
          <a:p>
            <a:pPr>
              <a:spcAft>
                <a:spcPts val="500"/>
              </a:spcAft>
              <a:defRPr sz="1050">
                <a:solidFill>
                  <a:srgbClr val="282828"/>
                </a:solidFill>
              </a:defRPr>
            </a:pPr>
            <a:r>
              <a:rPr b="1">
                <a:solidFill>
                  <a:srgbClr val="E91E63"/>
                </a:solidFill>
              </a:rPr>
              <a:t>4   Kesulitan menyusun skala prioritas pengerjaan tugas secara dinamis.</a:t>
            </a:r>
          </a:p>
          <a:p>
            <a:pPr>
              <a:spcAft>
                <a:spcPts val="500"/>
              </a:spcAft>
              <a:defRPr sz="1050">
                <a:solidFill>
                  <a:srgbClr val="282828"/>
                </a:solidFill>
              </a:defRPr>
            </a:pPr>
            <a:r>
              <a:rPr b="1">
                <a:solidFill>
                  <a:srgbClr val="E91E63"/>
                </a:solidFill>
              </a:rPr>
              <a:t>5   Pengelola (Admin) kesulitan memantau produktivitas tugas mahasiswa.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114800"/>
            <a:ext cx="2103120" cy="1207008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nding_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373" y="4187220"/>
            <a:ext cx="1976932" cy="1062167"/>
          </a:xfrm>
          <a:prstGeom prst="rect">
            <a:avLst/>
          </a:prstGeom>
          <a:ln w="12700">
            <a:solidFill>
              <a:srgbClr val="E91E63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1013155" y="5294376"/>
            <a:ext cx="2271369" cy="164592"/>
          </a:xfrm>
          <a:prstGeom prst="round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44416" y="5327294"/>
            <a:ext cx="408846" cy="98755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389120"/>
            <a:ext cx="2286000" cy="10972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sz="1000" b="1">
                <a:solidFill>
                  <a:srgbClr val="787878"/>
                </a:solidFill>
              </a:defRPr>
            </a:pPr>
            <a:r>
              <a:t>TaskMate UI / UX</a:t>
            </a:r>
            <a:br/>
            <a:r>
              <a:t>Modern Dashboard dengan visual manajemen responsif.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1887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1371600"/>
            <a:ext cx="411480" cy="41148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1371600"/>
            <a:ext cx="411480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>
              <a:defRPr sz="1600" b="1">
                <a:solidFill>
                  <a:srgbClr val="1A1A2E"/>
                </a:solidFill>
              </a:defRPr>
            </a:pPr>
            <a:r>
              <a:t>Tujuan Solutif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20240"/>
            <a:ext cx="4663440" cy="8229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0"/>
              </a:spcAft>
              <a:defRPr sz="1050">
                <a:solidFill>
                  <a:srgbClr val="282828"/>
                </a:solidFill>
              </a:defRPr>
            </a:pPr>
            <a:r>
              <a:t>Membangun sistem informasi TaskMate berbasis web untuk mengelola dan memonitor tugas akademik mahasiswa secara efisien, proaktif, dan real-time.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2834640"/>
            <a:ext cx="2240280" cy="8686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Visual Kanban Board</a:t>
            </a:r>
          </a:p>
          <a:p>
            <a:pPr algn="ctr">
              <a:spcBef>
                <a:spcPts val="400"/>
              </a:spcBef>
              <a:defRPr sz="850">
                <a:solidFill>
                  <a:srgbClr val="F06292"/>
                </a:solidFill>
              </a:defRPr>
            </a:pPr>
            <a:r>
              <a:t>4 Papan Kolom Tugas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2834640"/>
            <a:ext cx="2240280" cy="8686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WhatsApp Gateway</a:t>
            </a:r>
          </a:p>
          <a:p>
            <a:pPr algn="ctr">
              <a:spcBef>
                <a:spcPts val="400"/>
              </a:spcBef>
              <a:defRPr sz="850">
                <a:solidFill>
                  <a:srgbClr val="F06292"/>
                </a:solidFill>
              </a:defRPr>
            </a:pPr>
            <a:r>
              <a:t>Fonnte Auto Reminder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886200"/>
            <a:ext cx="2240280" cy="8686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Multi-Role Access</a:t>
            </a:r>
          </a:p>
          <a:p>
            <a:pPr algn="ctr">
              <a:spcBef>
                <a:spcPts val="400"/>
              </a:spcBef>
              <a:defRPr sz="850">
                <a:solidFill>
                  <a:srgbClr val="F06292"/>
                </a:solidFill>
              </a:defRPr>
            </a:pPr>
            <a:r>
              <a:t>Admin &amp; Mahasiswa Guard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3886200"/>
            <a:ext cx="2240280" cy="8686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Live Monitoring</a:t>
            </a:r>
          </a:p>
          <a:p>
            <a:pPr algn="ctr">
              <a:spcBef>
                <a:spcPts val="400"/>
              </a:spcBef>
              <a:defRPr sz="850">
                <a:solidFill>
                  <a:srgbClr val="F06292"/>
                </a:solidFill>
              </a:defRPr>
            </a:pPr>
            <a:r>
              <a:t>Statistik &amp; Audit Trail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4937760"/>
            <a:ext cx="4663440" cy="7772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91E63"/>
                </a:solidFill>
              </a:defRPr>
            </a:pPr>
            <a:r>
              <a:t>🎯 Output Akhir: Produktivitas belajar mahasiswa meningkat, angka keterlambatan tugas dapat diturunkan secara drastis.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06292"/>
                </a:solidFill>
                <a:latin typeface="Arial"/>
              </a:defRPr>
            </a:pPr>
            <a:r>
              <a:t>TASKMATE - PRESENTASI SIDANG PROYEK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Fitur Unggulan Aplikasi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787878"/>
                </a:solidFill>
                <a:latin typeface="Arial"/>
              </a:defRPr>
            </a:pPr>
            <a:r>
              <a:t>TaskMate v2.0 | D4 Teknik Informatika ULBI 2026 | Kelompok 22: M. Ilham Habiballah &amp; Gianjar Nugraha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600200"/>
            <a:ext cx="914400" cy="91440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41732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91E63"/>
                </a:solidFill>
              </a:defRPr>
            </a:pPr>
            <a:r>
              <a:t>Multi-Role Authorization</a:t>
            </a:r>
          </a:p>
          <a:p>
            <a:pPr>
              <a:lnSpc>
                <a:spcPct val="115000"/>
              </a:lnSpc>
              <a:defRPr sz="1000">
                <a:solidFill>
                  <a:srgbClr val="282828"/>
                </a:solidFill>
              </a:defRPr>
            </a:pPr>
            <a:r>
              <a:t>Pemisahan hak akses aman menggunakan Guard Laravel (Mahasiswa untuk workspace tugas terisolasi, Admin untuk dasbor pengawasan &amp; monitoring global).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0" y="1600200"/>
            <a:ext cx="914400" cy="91440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41732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91E63"/>
                </a:solidFill>
              </a:defRPr>
            </a:pPr>
            <a:r>
              <a:t>Visual Kanban Board</a:t>
            </a:r>
          </a:p>
          <a:p>
            <a:pPr>
              <a:lnSpc>
                <a:spcPct val="115000"/>
              </a:lnSpc>
              <a:defRPr sz="1000">
                <a:solidFill>
                  <a:srgbClr val="282828"/>
                </a:solidFill>
              </a:defRPr>
            </a:pPr>
            <a:r>
              <a:t>Manajemen tugas dengan 4 kolom visual (To Do, Doing, Review, Done) didukung SortableJS drag-and-drop dan auto-done 100% checklist sub-tugas.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3977640"/>
            <a:ext cx="914400" cy="91440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9476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91E63"/>
                </a:solidFill>
              </a:defRPr>
            </a:pPr>
            <a:r>
              <a:t>WhatsApp Gateway Reminder</a:t>
            </a:r>
          </a:p>
          <a:p>
            <a:pPr>
              <a:lnSpc>
                <a:spcPct val="115000"/>
              </a:lnSpc>
              <a:defRPr sz="1000">
                <a:solidFill>
                  <a:srgbClr val="282828"/>
                </a:solidFill>
              </a:defRPr>
            </a:pPr>
            <a:r>
              <a:t>Pengingat otomatis tenggat waktu H-5 &amp; H-2 sebelum batas waktu berakhir secara terjadwal (Laravel Cron Scheduler) langsung ke WhatsApp via Fonnte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56616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3977640"/>
            <a:ext cx="914400" cy="91440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794760"/>
            <a:ext cx="35661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E91E63"/>
                </a:solidFill>
              </a:defRPr>
            </a:pPr>
            <a:r>
              <a:t>Live Monitoring &amp; Audit Log</a:t>
            </a:r>
          </a:p>
          <a:p>
            <a:pPr>
              <a:lnSpc>
                <a:spcPct val="115000"/>
              </a:lnSpc>
              <a:defRPr sz="1000">
                <a:solidFill>
                  <a:srgbClr val="282828"/>
                </a:solidFill>
              </a:defRPr>
            </a:pPr>
            <a:r>
              <a:t>Dasbor analitik monitoring progres board mahasiswa secara real-time dan tracking audit trail log aktivitas sistem untuk transparansi.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06292"/>
                </a:solidFill>
                <a:latin typeface="Arial"/>
              </a:defRPr>
            </a:pPr>
            <a:r>
              <a:t>TASKMATE - PRESENTASI SIDANG PROYEK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Alur Kerja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787878"/>
                </a:solidFill>
                <a:latin typeface="Arial"/>
              </a:defRPr>
            </a:pPr>
            <a:r>
              <a:t>TaskMate v2.0 | D4 Teknik Informatika ULBI 2026 | Kelompok 22: M. Ilham Habiballah &amp; Gianjar Nugraha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25880"/>
            <a:ext cx="484632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ctr">
              <a:defRPr sz="1300" b="1">
                <a:solidFill>
                  <a:srgbClr val="E91E63"/>
                </a:solidFill>
              </a:defRPr>
            </a:pPr>
            <a:r>
              <a:t>👤 PENGELOLAAN TUGAS (MAHASISWA)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182880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78308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Pilih Kriteria / Modul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Mahasiswa input tugas akademik beserta prioritas &amp; sub-tugas.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260604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6032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Kanban Lifecycle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Menyeret kartu tugas (To Do -&gt; Doing -&gt; Review -&gt; Done) via AJAX.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338328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3756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Auto-Done Checklist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Tugas otomatis bergeser ke 'Done' ketika sub-tugas mencapai 100%.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16052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1480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Terima WhatsApp Reminder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Notifikasi WA Gateway diterima otomatis H-5 &amp; H-2 sebelum deadline.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1887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325880"/>
            <a:ext cx="484632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 algn="ctr">
              <a:defRPr sz="1300" b="1">
                <a:solidFill>
                  <a:srgbClr val="1A1A2E"/>
                </a:solidFill>
              </a:defRPr>
            </a:pPr>
            <a:r>
              <a:t>🔐 MONITORING &amp; VERIFIKASI (ADMIN)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1828800"/>
            <a:ext cx="411480" cy="41148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78308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Akses Dashboard Admin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Memantau performa, grafik tugas, dan statistik keaktifan global.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06040"/>
            <a:ext cx="411480" cy="41148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56032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Live Board Monitoring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Mengecek progres Kanban board live masing-masing mahasiswa.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383280"/>
            <a:ext cx="411480" cy="41148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33756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Audit Log Activity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Memverifikasi log audit trail digital transaksi tindakan mahasiswa.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160520"/>
            <a:ext cx="411480" cy="41148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114800"/>
            <a:ext cx="4206240" cy="73152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00">
                <a:solidFill>
                  <a:srgbClr val="1A1A2E"/>
                </a:solidFill>
              </a:defRPr>
            </a:pPr>
            <a:r>
              <a:t>Trigger WhatsApp Scheduler</a:t>
            </a:r>
          </a:p>
          <a:p>
            <a:pPr>
              <a:spcBef>
                <a:spcPts val="200"/>
              </a:spcBef>
              <a:defRPr sz="950">
                <a:solidFill>
                  <a:srgbClr val="282828"/>
                </a:solidFill>
              </a:defRPr>
            </a:pPr>
            <a:r>
              <a:t>Memicu pengiriman reminder terjadwal lewat CLI command Fonnte.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5486400"/>
            <a:ext cx="7619695" cy="4114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TUGAS AKADEMIK SELESAI &amp; TERMONITOR SECARA EFEKTIF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F06292"/>
                </a:solidFill>
                <a:latin typeface="Arial"/>
              </a:defRPr>
            </a:pPr>
            <a:r>
              <a:t>TASKMATE - PRESENTASI SIDANG PROYEK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Kesimpulan &amp; Integrasi 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787878"/>
                </a:solidFill>
                <a:latin typeface="Arial"/>
              </a:defRPr>
            </a:pPr>
            <a:r>
              <a:t>TaskMate v2.0 | D4 Teknik Informatika ULBI 2026 | Kelompok 22: M. Ilham Habiballah &amp; Gianjar Nugraha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F06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1887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37160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71600"/>
            <a:ext cx="457200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>
              <a:defRPr sz="1600" b="1">
                <a:solidFill>
                  <a:srgbClr val="1A1A2E"/>
                </a:solidFill>
              </a:defRPr>
            </a:pPr>
            <a:r>
              <a:t>Kesimpulan Implementasi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1920240"/>
            <a:ext cx="384048" cy="384048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74520"/>
            <a:ext cx="4572000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50">
                <a:solidFill>
                  <a:srgbClr val="1A1A2E"/>
                </a:solidFill>
              </a:defRPr>
            </a:pPr>
            <a:r>
              <a:t>Mendigitalisasi Papan Kerja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Mengubah sistem pencatatan manual menjadi visual Kanban Board terpusat.</a:t>
            </a:r>
          </a:p>
        </p:txBody>
      </p:sp>
      <p:sp>
        <p:nvSpPr>
          <p:cNvPr id="13" name="Oval 12"/>
          <p:cNvSpPr/>
          <p:nvPr/>
        </p:nvSpPr>
        <p:spPr>
          <a:xfrm>
            <a:off x="1005840" y="2926080"/>
            <a:ext cx="384048" cy="384048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50">
                <a:solidFill>
                  <a:srgbClr val="1A1A2E"/>
                </a:solidFill>
              </a:defRPr>
            </a:pPr>
            <a:r>
              <a:t>Efektivitas WhatsApp Gateway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Notifikasi proaktif H-5 &amp; H-2 berhasil meminimalkan keterlambatan pengumpulan.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3931920"/>
            <a:ext cx="384048" cy="384048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886200"/>
            <a:ext cx="4572000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50">
                <a:solidFill>
                  <a:srgbClr val="1A1A2E"/>
                </a:solidFill>
              </a:defRPr>
            </a:pPr>
            <a:r>
              <a:t>Kemudahan Pengawasan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Dasbor admin mempermudah monitor progres tugas real-time &amp; audit activity trail.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4937760"/>
            <a:ext cx="384048" cy="384048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92040"/>
            <a:ext cx="4572000" cy="9144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defRPr b="1" sz="1150">
                <a:solidFill>
                  <a:srgbClr val="1A1A2E"/>
                </a:solidFill>
              </a:defRPr>
            </a:pPr>
            <a:r>
              <a:t>Pusat Bantuan Terpadu</a:t>
            </a:r>
          </a:p>
          <a:p>
            <a:pPr>
              <a:spcBef>
                <a:spcPts val="200"/>
              </a:spcBef>
              <a:defRPr sz="1000">
                <a:solidFill>
                  <a:srgbClr val="282828"/>
                </a:solidFill>
              </a:defRPr>
            </a:pPr>
            <a:r>
              <a:t>Fitur Direct Help Center WA mempercepat penyelesaian aduan kendala dari mahasiswa.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188720"/>
            <a:ext cx="50292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0" y="1371600"/>
            <a:ext cx="411480" cy="411480"/>
          </a:xfrm>
          <a:prstGeom prst="ellipse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371600"/>
            <a:ext cx="4114800" cy="411480"/>
          </a:xfrm>
          <a:prstGeom prst="rect">
            <a:avLst/>
          </a:prstGeom>
          <a:noFill/>
        </p:spPr>
        <p:txBody>
          <a:bodyPr wrap="none" lIns="0" rIns="0" tIns="0">
            <a:spAutoFit/>
          </a:bodyPr>
          <a:lstStyle/>
          <a:p>
            <a:pPr>
              <a:defRPr sz="1500" b="1">
                <a:solidFill>
                  <a:srgbClr val="1A1A2E"/>
                </a:solidFill>
              </a:defRPr>
            </a:pPr>
            <a:r>
              <a:t>Sistem Notifikasi WhatsApp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828800"/>
            <a:ext cx="2651760" cy="34747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_remi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590" y="1933041"/>
            <a:ext cx="2439619" cy="3266236"/>
          </a:xfrm>
          <a:prstGeom prst="rect">
            <a:avLst/>
          </a:prstGeom>
          <a:ln w="12700">
            <a:solidFill>
              <a:srgbClr val="E91E63"/>
            </a:solidFill>
          </a:ln>
        </p:spPr>
      </p:pic>
      <p:sp>
        <p:nvSpPr>
          <p:cNvPr id="24" name="Rounded Rectangle 23"/>
          <p:cNvSpPr/>
          <p:nvPr/>
        </p:nvSpPr>
        <p:spPr>
          <a:xfrm>
            <a:off x="8451342" y="1874520"/>
            <a:ext cx="928115" cy="104241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0" y="5440680"/>
            <a:ext cx="4480560" cy="4114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WHATSAPP GATEWAY INTEGRATED - FONNTE API VERIFIED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