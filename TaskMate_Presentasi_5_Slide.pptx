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1" d="100"/>
          <a:sy n="111" d="100"/>
        </p:scale>
        <p:origin x="55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51" y="103512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6217920" cy="2687915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defRPr sz="5400" b="1">
                <a:solidFill>
                  <a:srgbClr val="E91E63"/>
                </a:solidFill>
                <a:latin typeface="Arial"/>
              </a:defRPr>
            </a:pPr>
            <a:r>
              <a:rPr sz="3200" dirty="0"/>
              <a:t>TASKMATE</a:t>
            </a:r>
          </a:p>
          <a:p>
            <a:pPr>
              <a:spcBef>
                <a:spcPts val="6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rPr sz="3200" dirty="0" err="1"/>
              <a:t>Sistem</a:t>
            </a:r>
            <a:r>
              <a:rPr sz="3200" dirty="0"/>
              <a:t> </a:t>
            </a:r>
            <a:r>
              <a:rPr sz="3200" dirty="0" err="1"/>
              <a:t>Manajemen</a:t>
            </a:r>
            <a:r>
              <a:rPr sz="3200" dirty="0"/>
              <a:t> </a:t>
            </a:r>
            <a:r>
              <a:rPr sz="3200" dirty="0" err="1"/>
              <a:t>Tugas</a:t>
            </a:r>
            <a:r>
              <a:rPr sz="3200" dirty="0"/>
              <a:t> &amp; </a:t>
            </a:r>
            <a:r>
              <a:rPr sz="3200" dirty="0" err="1"/>
              <a:t>Produktivitas</a:t>
            </a:r>
            <a:r>
              <a:rPr sz="3200" dirty="0"/>
              <a:t> </a:t>
            </a:r>
            <a:r>
              <a:rPr sz="3200" dirty="0" err="1"/>
              <a:t>Berbasis</a:t>
            </a:r>
            <a:r>
              <a:rPr sz="3200" dirty="0"/>
              <a:t> Web</a:t>
            </a:r>
          </a:p>
          <a:p>
            <a:pPr>
              <a:spcBef>
                <a:spcPts val="800"/>
              </a:spcBef>
              <a:defRPr sz="1500">
                <a:solidFill>
                  <a:srgbClr val="F06292"/>
                </a:solidFill>
                <a:latin typeface="Arial"/>
              </a:defRPr>
            </a:pPr>
            <a:r>
              <a:rPr sz="3200" dirty="0" err="1"/>
              <a:t>Laporan</a:t>
            </a:r>
            <a:r>
              <a:rPr sz="3200" dirty="0"/>
              <a:t> Akhir </a:t>
            </a:r>
            <a:r>
              <a:rPr sz="3200" dirty="0" err="1"/>
              <a:t>Presentasi</a:t>
            </a:r>
            <a:r>
              <a:rPr sz="3200" dirty="0"/>
              <a:t> </a:t>
            </a:r>
            <a:r>
              <a:rPr sz="3200" dirty="0" err="1"/>
              <a:t>Sidang</a:t>
            </a:r>
            <a:r>
              <a:rPr sz="3200" dirty="0"/>
              <a:t> </a:t>
            </a:r>
            <a:r>
              <a:rPr sz="3200" dirty="0" err="1"/>
              <a:t>Proyek</a:t>
            </a:r>
            <a:r>
              <a:rPr sz="3200" dirty="0"/>
              <a:t> 1</a:t>
            </a:r>
          </a:p>
        </p:txBody>
      </p:sp>
      <p:pic>
        <p:nvPicPr>
          <p:cNvPr id="5" name="Picture 4" descr="landing_p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731520"/>
            <a:ext cx="4389120" cy="27432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132320" y="731520"/>
            <a:ext cx="4389120" cy="2743200"/>
          </a:xfrm>
          <a:prstGeom prst="rect">
            <a:avLst/>
          </a:prstGeom>
          <a:noFill/>
          <a:ln w="19050">
            <a:solidFill>
              <a:srgbClr val="E91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3657600"/>
            <a:ext cx="5120640" cy="2468880"/>
          </a:xfrm>
          <a:prstGeom prst="roundRect">
            <a:avLst/>
          </a:prstGeom>
          <a:solidFill>
            <a:srgbClr val="23233C"/>
          </a:solidFill>
          <a:ln w="19050">
            <a:solidFill>
              <a:srgbClr val="E91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3794760"/>
            <a:ext cx="4754880" cy="1718419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defRPr sz="1200" b="1">
                <a:solidFill>
                  <a:srgbClr val="F06292"/>
                </a:solidFill>
              </a:defRPr>
            </a:pPr>
            <a:r>
              <a:rPr sz="1400" dirty="0"/>
              <a:t>DISUSUN OLEH (KELOMPOK 22):</a:t>
            </a:r>
          </a:p>
          <a:p>
            <a:pPr>
              <a:spcBef>
                <a:spcPts val="800"/>
              </a:spcBef>
              <a:defRPr sz="1300" b="1">
                <a:solidFill>
                  <a:srgbClr val="FFFFFF"/>
                </a:solidFill>
              </a:defRPr>
            </a:pPr>
            <a:r>
              <a:rPr sz="1400" dirty="0"/>
              <a:t>1. Muhammad Ilham Habiballah (NPM: 714250003)</a:t>
            </a:r>
          </a:p>
          <a:p>
            <a:pPr>
              <a:spcBef>
                <a:spcPts val="600"/>
              </a:spcBef>
              <a:defRPr sz="1300" b="1">
                <a:solidFill>
                  <a:srgbClr val="FFFFFF"/>
                </a:solidFill>
              </a:defRPr>
            </a:pPr>
            <a:r>
              <a:rPr sz="1400" dirty="0"/>
              <a:t>2. </a:t>
            </a:r>
            <a:r>
              <a:rPr sz="1400" dirty="0" err="1"/>
              <a:t>Gianjar</a:t>
            </a:r>
            <a:r>
              <a:rPr sz="1400" dirty="0"/>
              <a:t> </a:t>
            </a:r>
            <a:r>
              <a:rPr sz="1400" dirty="0" err="1"/>
              <a:t>Nugraha</a:t>
            </a:r>
            <a:r>
              <a:rPr sz="1400" dirty="0"/>
              <a:t> (NPM: 714250007)</a:t>
            </a:r>
            <a:endParaRPr lang="en-US" sz="1400" dirty="0"/>
          </a:p>
          <a:p>
            <a:pPr>
              <a:spcBef>
                <a:spcPts val="600"/>
              </a:spcBef>
              <a:defRPr sz="1300" b="1">
                <a:solidFill>
                  <a:srgbClr val="FFFFFF"/>
                </a:solidFill>
              </a:defRPr>
            </a:pPr>
            <a:endParaRPr sz="1400" dirty="0"/>
          </a:p>
          <a:p>
            <a:pPr>
              <a:spcBef>
                <a:spcPts val="1200"/>
              </a:spcBef>
              <a:defRPr sz="1100">
                <a:solidFill>
                  <a:srgbClr val="787878"/>
                </a:solidFill>
              </a:defRPr>
            </a:pPr>
            <a:r>
              <a:rPr sz="1300" dirty="0"/>
              <a:t>Program Studi D4 Teknik </a:t>
            </a:r>
            <a:r>
              <a:rPr sz="1300" dirty="0" err="1"/>
              <a:t>Informatika</a:t>
            </a:r>
            <a:br>
              <a:rPr sz="1300" dirty="0"/>
            </a:br>
            <a:r>
              <a:rPr sz="1300" dirty="0"/>
              <a:t>Universitas Logistik &amp; </a:t>
            </a:r>
            <a:r>
              <a:rPr sz="1300" dirty="0" err="1"/>
              <a:t>Bisnis</a:t>
            </a:r>
            <a:r>
              <a:rPr sz="1300" dirty="0"/>
              <a:t> Internasional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657600"/>
            <a:ext cx="5212080" cy="2468880"/>
          </a:xfrm>
          <a:prstGeom prst="roundRect">
            <a:avLst/>
          </a:prstGeom>
          <a:solidFill>
            <a:srgbClr val="23233C"/>
          </a:solidFill>
          <a:ln w="19050">
            <a:solidFill>
              <a:srgbClr val="F062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3794760"/>
            <a:ext cx="4846320" cy="1620957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defRPr sz="1200" b="1">
                <a:solidFill>
                  <a:srgbClr val="F06292"/>
                </a:solidFill>
              </a:defRPr>
            </a:pPr>
            <a:r>
              <a:rPr sz="1400" dirty="0"/>
              <a:t>DOSEN PEMBIMBING &amp; INSTITUSI:</a:t>
            </a:r>
          </a:p>
          <a:p>
            <a:pPr>
              <a:spcBef>
                <a:spcPts val="800"/>
              </a:spcBef>
              <a:defRPr sz="1300" b="1">
                <a:solidFill>
                  <a:srgbClr val="FFFFFF"/>
                </a:solidFill>
              </a:defRPr>
            </a:pPr>
            <a:r>
              <a:rPr sz="1400" dirty="0" err="1"/>
              <a:t>Pembimbing</a:t>
            </a:r>
            <a:r>
              <a:rPr sz="1400" dirty="0"/>
              <a:t>: Cahyo Prianto, </a:t>
            </a:r>
            <a:r>
              <a:rPr sz="1400" dirty="0" err="1"/>
              <a:t>S.Pd</a:t>
            </a:r>
            <a:r>
              <a:rPr sz="1400" dirty="0"/>
              <a:t>., M.T., CDSP, SFPC</a:t>
            </a:r>
          </a:p>
          <a:p>
            <a:pPr>
              <a:spcBef>
                <a:spcPts val="600"/>
              </a:spcBef>
              <a:defRPr sz="1250">
                <a:solidFill>
                  <a:srgbClr val="FFFFFF"/>
                </a:solidFill>
              </a:defRPr>
            </a:pPr>
            <a:r>
              <a:rPr sz="1400" dirty="0" err="1"/>
              <a:t>Tahun</a:t>
            </a:r>
            <a:r>
              <a:rPr sz="1400" dirty="0"/>
              <a:t> Akademik: 2025/2026</a:t>
            </a:r>
            <a:endParaRPr lang="en-US" sz="1400" dirty="0"/>
          </a:p>
          <a:p>
            <a:pPr>
              <a:spcBef>
                <a:spcPts val="600"/>
              </a:spcBef>
              <a:defRPr sz="1250">
                <a:solidFill>
                  <a:srgbClr val="FFFFFF"/>
                </a:solidFill>
              </a:defRPr>
            </a:pPr>
            <a:endParaRPr sz="1400" dirty="0"/>
          </a:p>
          <a:p>
            <a:pPr>
              <a:spcBef>
                <a:spcPts val="2000"/>
              </a:spcBef>
              <a:defRPr sz="1100">
                <a:solidFill>
                  <a:srgbClr val="787878"/>
                </a:solidFill>
              </a:defRPr>
            </a:pPr>
            <a:r>
              <a:rPr sz="1300" dirty="0"/>
              <a:t>D4 Teknik </a:t>
            </a:r>
            <a:r>
              <a:rPr sz="1300" dirty="0" err="1"/>
              <a:t>Informatika</a:t>
            </a:r>
            <a:r>
              <a:rPr sz="1300" dirty="0"/>
              <a:t> ULBI 2026  |  TASKMATE.ULBI.AC.ID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06292"/>
                </a:solidFill>
                <a:latin typeface="Arial"/>
              </a:defRPr>
            </a:pPr>
            <a:r>
              <a:t>TASKMATE - PRESENTASI SIDANG PROYEK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Latar Belakang &amp; Tujuan Solutif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787878"/>
                </a:solidFill>
                <a:latin typeface="Arial"/>
              </a:defRPr>
            </a:pPr>
            <a:r>
              <a:t>TaskMate v2.0 | D4 Teknik Informatika ULBI 2026 | Kelompok 22: M. Ilham Habiballah &amp; Gianjar Nugraha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00800"/>
            <a:ext cx="10698480" cy="18288"/>
          </a:xfrm>
          <a:prstGeom prst="rect">
            <a:avLst/>
          </a:prstGeom>
          <a:solidFill>
            <a:srgbClr val="F06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31520" y="1144725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05840" y="1371600"/>
            <a:ext cx="411480" cy="411480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371600"/>
            <a:ext cx="4114800" cy="411480"/>
          </a:xfrm>
          <a:prstGeom prst="rect">
            <a:avLst/>
          </a:prstGeom>
          <a:noFill/>
        </p:spPr>
        <p:txBody>
          <a:bodyPr wrap="none" lIns="0" tIns="0" rIns="0">
            <a:spAutoFit/>
          </a:bodyPr>
          <a:lstStyle/>
          <a:p>
            <a:pPr>
              <a:defRPr sz="1600" b="1">
                <a:solidFill>
                  <a:srgbClr val="1A1A2E"/>
                </a:solidFill>
              </a:defRPr>
            </a:pPr>
            <a:r>
              <a:t>Identifikasi Masalah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920240"/>
            <a:ext cx="4663440" cy="1903085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282828"/>
                </a:solidFill>
              </a:defRPr>
            </a:pPr>
            <a:r>
              <a:rPr sz="1300" b="1" dirty="0">
                <a:solidFill>
                  <a:srgbClr val="E91E63"/>
                </a:solidFill>
              </a:rPr>
              <a:t>1   Beban </a:t>
            </a:r>
            <a:r>
              <a:rPr sz="1300" b="1" dirty="0" err="1">
                <a:solidFill>
                  <a:srgbClr val="E91E63"/>
                </a:solidFill>
              </a:rPr>
              <a:t>aktivitas</a:t>
            </a:r>
            <a:r>
              <a:rPr sz="1300" b="1" dirty="0">
                <a:solidFill>
                  <a:srgbClr val="E91E63"/>
                </a:solidFill>
              </a:rPr>
              <a:t> </a:t>
            </a:r>
            <a:r>
              <a:rPr sz="1300" b="1" dirty="0" err="1">
                <a:solidFill>
                  <a:srgbClr val="E91E63"/>
                </a:solidFill>
              </a:rPr>
              <a:t>akademik</a:t>
            </a:r>
            <a:r>
              <a:rPr sz="1300" b="1" dirty="0">
                <a:solidFill>
                  <a:srgbClr val="E91E63"/>
                </a:solidFill>
              </a:rPr>
              <a:t> </a:t>
            </a:r>
            <a:r>
              <a:rPr sz="1300" b="1" dirty="0" err="1">
                <a:solidFill>
                  <a:srgbClr val="E91E63"/>
                </a:solidFill>
              </a:rPr>
              <a:t>mahasiswa</a:t>
            </a:r>
            <a:r>
              <a:rPr sz="1300" b="1" dirty="0">
                <a:solidFill>
                  <a:srgbClr val="E91E63"/>
                </a:solidFill>
              </a:rPr>
              <a:t> D4 TI ULBI yang sangat </a:t>
            </a:r>
            <a:r>
              <a:rPr sz="1300" b="1" dirty="0" err="1">
                <a:solidFill>
                  <a:srgbClr val="E91E63"/>
                </a:solidFill>
              </a:rPr>
              <a:t>padat</a:t>
            </a:r>
            <a:r>
              <a:rPr sz="1300" b="1" dirty="0">
                <a:solidFill>
                  <a:srgbClr val="E91E63"/>
                </a:solidFill>
              </a:rPr>
              <a:t>.</a:t>
            </a:r>
          </a:p>
          <a:p>
            <a:pPr>
              <a:spcAft>
                <a:spcPts val="500"/>
              </a:spcAft>
              <a:defRPr sz="1050">
                <a:solidFill>
                  <a:srgbClr val="282828"/>
                </a:solidFill>
              </a:defRPr>
            </a:pPr>
            <a:r>
              <a:rPr sz="1300" b="1" dirty="0">
                <a:solidFill>
                  <a:srgbClr val="E91E63"/>
                </a:solidFill>
              </a:rPr>
              <a:t>2   </a:t>
            </a:r>
            <a:r>
              <a:rPr sz="1300" b="1" dirty="0" err="1">
                <a:solidFill>
                  <a:srgbClr val="E91E63"/>
                </a:solidFill>
              </a:rPr>
              <a:t>Pencatatan</a:t>
            </a:r>
            <a:r>
              <a:rPr sz="1300" b="1" dirty="0">
                <a:solidFill>
                  <a:srgbClr val="E91E63"/>
                </a:solidFill>
              </a:rPr>
              <a:t> </a:t>
            </a:r>
            <a:r>
              <a:rPr sz="1300" b="1" dirty="0" err="1">
                <a:solidFill>
                  <a:srgbClr val="E91E63"/>
                </a:solidFill>
              </a:rPr>
              <a:t>tugas</a:t>
            </a:r>
            <a:r>
              <a:rPr sz="1300" b="1" dirty="0">
                <a:solidFill>
                  <a:srgbClr val="E91E63"/>
                </a:solidFill>
              </a:rPr>
              <a:t> </a:t>
            </a:r>
            <a:r>
              <a:rPr sz="1300" b="1" dirty="0" err="1">
                <a:solidFill>
                  <a:srgbClr val="E91E63"/>
                </a:solidFill>
              </a:rPr>
              <a:t>harian</a:t>
            </a:r>
            <a:r>
              <a:rPr sz="1300" b="1" dirty="0">
                <a:solidFill>
                  <a:srgbClr val="E91E63"/>
                </a:solidFill>
              </a:rPr>
              <a:t>/</a:t>
            </a:r>
            <a:r>
              <a:rPr sz="1300" b="1" dirty="0" err="1">
                <a:solidFill>
                  <a:srgbClr val="E91E63"/>
                </a:solidFill>
              </a:rPr>
              <a:t>praktikum</a:t>
            </a:r>
            <a:r>
              <a:rPr sz="1300" b="1" dirty="0">
                <a:solidFill>
                  <a:srgbClr val="E91E63"/>
                </a:solidFill>
              </a:rPr>
              <a:t> </a:t>
            </a:r>
            <a:r>
              <a:rPr sz="1300" b="1" dirty="0" err="1">
                <a:solidFill>
                  <a:srgbClr val="E91E63"/>
                </a:solidFill>
              </a:rPr>
              <a:t>konvensional</a:t>
            </a:r>
            <a:r>
              <a:rPr sz="1300" b="1" dirty="0">
                <a:solidFill>
                  <a:srgbClr val="E91E63"/>
                </a:solidFill>
              </a:rPr>
              <a:t> </a:t>
            </a:r>
            <a:r>
              <a:rPr sz="1300" b="1" dirty="0" err="1">
                <a:solidFill>
                  <a:srgbClr val="E91E63"/>
                </a:solidFill>
              </a:rPr>
              <a:t>bersifat</a:t>
            </a:r>
            <a:r>
              <a:rPr sz="1300" b="1" dirty="0">
                <a:solidFill>
                  <a:srgbClr val="E91E63"/>
                </a:solidFill>
              </a:rPr>
              <a:t> </a:t>
            </a:r>
            <a:r>
              <a:rPr sz="1300" b="1" dirty="0" err="1">
                <a:solidFill>
                  <a:srgbClr val="E91E63"/>
                </a:solidFill>
              </a:rPr>
              <a:t>pasif</a:t>
            </a:r>
            <a:r>
              <a:rPr sz="1300" b="1" dirty="0">
                <a:solidFill>
                  <a:srgbClr val="E91E63"/>
                </a:solidFill>
              </a:rPr>
              <a:t>.</a:t>
            </a:r>
          </a:p>
          <a:p>
            <a:pPr>
              <a:spcAft>
                <a:spcPts val="500"/>
              </a:spcAft>
              <a:defRPr sz="1050">
                <a:solidFill>
                  <a:srgbClr val="282828"/>
                </a:solidFill>
              </a:defRPr>
            </a:pPr>
            <a:r>
              <a:rPr sz="1300" b="1" dirty="0">
                <a:solidFill>
                  <a:srgbClr val="E91E63"/>
                </a:solidFill>
              </a:rPr>
              <a:t>3   </a:t>
            </a:r>
            <a:r>
              <a:rPr sz="1300" b="1" dirty="0" err="1">
                <a:solidFill>
                  <a:srgbClr val="E91E63"/>
                </a:solidFill>
              </a:rPr>
              <a:t>Ketiadaan</a:t>
            </a:r>
            <a:r>
              <a:rPr sz="1300" b="1" dirty="0">
                <a:solidFill>
                  <a:srgbClr val="E91E63"/>
                </a:solidFill>
              </a:rPr>
              <a:t> </a:t>
            </a:r>
            <a:r>
              <a:rPr sz="1300" b="1" dirty="0" err="1">
                <a:solidFill>
                  <a:srgbClr val="E91E63"/>
                </a:solidFill>
              </a:rPr>
              <a:t>pengingat</a:t>
            </a:r>
            <a:r>
              <a:rPr sz="1300" b="1" dirty="0">
                <a:solidFill>
                  <a:srgbClr val="E91E63"/>
                </a:solidFill>
              </a:rPr>
              <a:t> </a:t>
            </a:r>
            <a:r>
              <a:rPr sz="1300" b="1" dirty="0" err="1">
                <a:solidFill>
                  <a:srgbClr val="E91E63"/>
                </a:solidFill>
              </a:rPr>
              <a:t>proaktif</a:t>
            </a:r>
            <a:r>
              <a:rPr sz="1300" b="1" dirty="0">
                <a:solidFill>
                  <a:srgbClr val="E91E63"/>
                </a:solidFill>
              </a:rPr>
              <a:t> yang </a:t>
            </a:r>
            <a:r>
              <a:rPr sz="1300" b="1" dirty="0" err="1">
                <a:solidFill>
                  <a:srgbClr val="E91E63"/>
                </a:solidFill>
              </a:rPr>
              <a:t>terintegrasi</a:t>
            </a:r>
            <a:r>
              <a:rPr sz="1300" b="1" dirty="0">
                <a:solidFill>
                  <a:srgbClr val="E91E63"/>
                </a:solidFill>
              </a:rPr>
              <a:t> (forgetfulness).</a:t>
            </a:r>
          </a:p>
          <a:p>
            <a:pPr>
              <a:spcAft>
                <a:spcPts val="500"/>
              </a:spcAft>
              <a:defRPr sz="1050">
                <a:solidFill>
                  <a:srgbClr val="282828"/>
                </a:solidFill>
              </a:defRPr>
            </a:pPr>
            <a:r>
              <a:rPr sz="1300" b="1" dirty="0">
                <a:solidFill>
                  <a:srgbClr val="E91E63"/>
                </a:solidFill>
              </a:rPr>
              <a:t>4   </a:t>
            </a:r>
            <a:r>
              <a:rPr sz="1300" b="1" dirty="0" err="1">
                <a:solidFill>
                  <a:srgbClr val="E91E63"/>
                </a:solidFill>
              </a:rPr>
              <a:t>Kesulitan</a:t>
            </a:r>
            <a:r>
              <a:rPr sz="1300" b="1" dirty="0">
                <a:solidFill>
                  <a:srgbClr val="E91E63"/>
                </a:solidFill>
              </a:rPr>
              <a:t> </a:t>
            </a:r>
            <a:r>
              <a:rPr sz="1300" b="1" dirty="0" err="1">
                <a:solidFill>
                  <a:srgbClr val="E91E63"/>
                </a:solidFill>
              </a:rPr>
              <a:t>menyusun</a:t>
            </a:r>
            <a:r>
              <a:rPr sz="1300" b="1" dirty="0">
                <a:solidFill>
                  <a:srgbClr val="E91E63"/>
                </a:solidFill>
              </a:rPr>
              <a:t> </a:t>
            </a:r>
            <a:r>
              <a:rPr sz="1300" b="1" dirty="0" err="1">
                <a:solidFill>
                  <a:srgbClr val="E91E63"/>
                </a:solidFill>
              </a:rPr>
              <a:t>skala</a:t>
            </a:r>
            <a:r>
              <a:rPr sz="1300" b="1" dirty="0">
                <a:solidFill>
                  <a:srgbClr val="E91E63"/>
                </a:solidFill>
              </a:rPr>
              <a:t> </a:t>
            </a:r>
            <a:r>
              <a:rPr sz="1300" b="1" dirty="0" err="1">
                <a:solidFill>
                  <a:srgbClr val="E91E63"/>
                </a:solidFill>
              </a:rPr>
              <a:t>prioritas</a:t>
            </a:r>
            <a:r>
              <a:rPr sz="1300" b="1" dirty="0">
                <a:solidFill>
                  <a:srgbClr val="E91E63"/>
                </a:solidFill>
              </a:rPr>
              <a:t> </a:t>
            </a:r>
            <a:r>
              <a:rPr sz="1300" b="1" dirty="0" err="1">
                <a:solidFill>
                  <a:srgbClr val="E91E63"/>
                </a:solidFill>
              </a:rPr>
              <a:t>pengerjaan</a:t>
            </a:r>
            <a:r>
              <a:rPr sz="1300" b="1" dirty="0">
                <a:solidFill>
                  <a:srgbClr val="E91E63"/>
                </a:solidFill>
              </a:rPr>
              <a:t> </a:t>
            </a:r>
            <a:r>
              <a:rPr sz="1300" b="1" dirty="0" err="1">
                <a:solidFill>
                  <a:srgbClr val="E91E63"/>
                </a:solidFill>
              </a:rPr>
              <a:t>tugas</a:t>
            </a:r>
            <a:r>
              <a:rPr sz="1300" b="1" dirty="0">
                <a:solidFill>
                  <a:srgbClr val="E91E63"/>
                </a:solidFill>
              </a:rPr>
              <a:t> </a:t>
            </a:r>
            <a:r>
              <a:rPr sz="1300" b="1" dirty="0" err="1">
                <a:solidFill>
                  <a:srgbClr val="E91E63"/>
                </a:solidFill>
              </a:rPr>
              <a:t>secara</a:t>
            </a:r>
            <a:r>
              <a:rPr sz="1300" b="1" dirty="0">
                <a:solidFill>
                  <a:srgbClr val="E91E63"/>
                </a:solidFill>
              </a:rPr>
              <a:t> </a:t>
            </a:r>
            <a:r>
              <a:rPr sz="1300" b="1" dirty="0" err="1">
                <a:solidFill>
                  <a:srgbClr val="E91E63"/>
                </a:solidFill>
              </a:rPr>
              <a:t>dinamis</a:t>
            </a:r>
            <a:r>
              <a:rPr sz="1300" b="1" dirty="0">
                <a:solidFill>
                  <a:srgbClr val="E91E63"/>
                </a:solidFill>
              </a:rPr>
              <a:t>.</a:t>
            </a:r>
          </a:p>
          <a:p>
            <a:pPr>
              <a:spcAft>
                <a:spcPts val="500"/>
              </a:spcAft>
              <a:defRPr sz="1050">
                <a:solidFill>
                  <a:srgbClr val="282828"/>
                </a:solidFill>
              </a:defRPr>
            </a:pPr>
            <a:r>
              <a:rPr sz="1300" b="1" dirty="0">
                <a:solidFill>
                  <a:srgbClr val="E91E63"/>
                </a:solidFill>
              </a:rPr>
              <a:t>5   </a:t>
            </a:r>
            <a:r>
              <a:rPr sz="1300" b="1" dirty="0" err="1">
                <a:solidFill>
                  <a:srgbClr val="E91E63"/>
                </a:solidFill>
              </a:rPr>
              <a:t>Pengelola</a:t>
            </a:r>
            <a:r>
              <a:rPr sz="1300" b="1" dirty="0">
                <a:solidFill>
                  <a:srgbClr val="E91E63"/>
                </a:solidFill>
              </a:rPr>
              <a:t> (Admin) </a:t>
            </a:r>
            <a:r>
              <a:rPr sz="1300" b="1" dirty="0" err="1">
                <a:solidFill>
                  <a:srgbClr val="E91E63"/>
                </a:solidFill>
              </a:rPr>
              <a:t>kesulitan</a:t>
            </a:r>
            <a:r>
              <a:rPr sz="1300" b="1" dirty="0">
                <a:solidFill>
                  <a:srgbClr val="E91E63"/>
                </a:solidFill>
              </a:rPr>
              <a:t> </a:t>
            </a:r>
            <a:r>
              <a:rPr sz="1300" b="1" dirty="0" err="1">
                <a:solidFill>
                  <a:srgbClr val="E91E63"/>
                </a:solidFill>
              </a:rPr>
              <a:t>memantau</a:t>
            </a:r>
            <a:r>
              <a:rPr sz="1300" b="1" dirty="0">
                <a:solidFill>
                  <a:srgbClr val="E91E63"/>
                </a:solidFill>
              </a:rPr>
              <a:t> </a:t>
            </a:r>
            <a:r>
              <a:rPr sz="1300" b="1" dirty="0" err="1">
                <a:solidFill>
                  <a:srgbClr val="E91E63"/>
                </a:solidFill>
              </a:rPr>
              <a:t>produktivitas</a:t>
            </a:r>
            <a:r>
              <a:rPr sz="1300" b="1" dirty="0">
                <a:solidFill>
                  <a:srgbClr val="E91E63"/>
                </a:solidFill>
              </a:rPr>
              <a:t> </a:t>
            </a:r>
            <a:r>
              <a:rPr sz="1300" b="1" dirty="0" err="1">
                <a:solidFill>
                  <a:srgbClr val="E91E63"/>
                </a:solidFill>
              </a:rPr>
              <a:t>tugas</a:t>
            </a:r>
            <a:r>
              <a:rPr sz="1300" b="1" dirty="0">
                <a:solidFill>
                  <a:srgbClr val="E91E63"/>
                </a:solidFill>
              </a:rPr>
              <a:t> </a:t>
            </a:r>
            <a:r>
              <a:rPr sz="1300" b="1" dirty="0" err="1">
                <a:solidFill>
                  <a:srgbClr val="E91E63"/>
                </a:solidFill>
              </a:rPr>
              <a:t>mahasiswa</a:t>
            </a:r>
            <a:r>
              <a:rPr sz="1300" b="1" dirty="0">
                <a:solidFill>
                  <a:srgbClr val="E91E63"/>
                </a:solidFill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4114800"/>
            <a:ext cx="2103120" cy="1207008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landing_p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0373" y="4187220"/>
            <a:ext cx="1976932" cy="1062167"/>
          </a:xfrm>
          <a:prstGeom prst="rect">
            <a:avLst/>
          </a:prstGeom>
          <a:ln w="12700">
            <a:solidFill>
              <a:srgbClr val="E91E63"/>
            </a:solidFill>
          </a:ln>
        </p:spPr>
      </p:pic>
      <p:sp>
        <p:nvSpPr>
          <p:cNvPr id="14" name="Rounded Rectangle 13"/>
          <p:cNvSpPr/>
          <p:nvPr/>
        </p:nvSpPr>
        <p:spPr>
          <a:xfrm>
            <a:off x="1013155" y="5294376"/>
            <a:ext cx="2271369" cy="164592"/>
          </a:xfrm>
          <a:prstGeom prst="round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944416" y="5327294"/>
            <a:ext cx="408846" cy="98755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83280" y="4389120"/>
            <a:ext cx="2286000" cy="692497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defRPr sz="1000" b="1">
                <a:solidFill>
                  <a:srgbClr val="787878"/>
                </a:solidFill>
              </a:defRPr>
            </a:pPr>
            <a:r>
              <a:rPr sz="1400" dirty="0" err="1"/>
              <a:t>TaskMate</a:t>
            </a:r>
            <a:r>
              <a:rPr sz="1400" dirty="0"/>
              <a:t> UI / UX</a:t>
            </a:r>
            <a:br>
              <a:rPr sz="1400" dirty="0"/>
            </a:br>
            <a:r>
              <a:rPr sz="1400" dirty="0"/>
              <a:t>Modern Dashboard </a:t>
            </a:r>
            <a:r>
              <a:rPr sz="1400" dirty="0" err="1"/>
              <a:t>dengan</a:t>
            </a:r>
            <a:r>
              <a:rPr sz="1400" dirty="0"/>
              <a:t> visual </a:t>
            </a:r>
            <a:r>
              <a:rPr sz="1400" dirty="0" err="1"/>
              <a:t>manajemen</a:t>
            </a:r>
            <a:r>
              <a:rPr sz="1400" dirty="0"/>
              <a:t> </a:t>
            </a:r>
            <a:r>
              <a:rPr sz="1400" dirty="0" err="1"/>
              <a:t>responsif</a:t>
            </a:r>
            <a:r>
              <a:rPr sz="1400" dirty="0"/>
              <a:t>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18872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492240" y="1371600"/>
            <a:ext cx="411480" cy="411480"/>
          </a:xfrm>
          <a:prstGeom prst="ellipse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60" y="1371600"/>
            <a:ext cx="4114800" cy="411480"/>
          </a:xfrm>
          <a:prstGeom prst="rect">
            <a:avLst/>
          </a:prstGeom>
          <a:noFill/>
        </p:spPr>
        <p:txBody>
          <a:bodyPr wrap="none" lIns="0" tIns="0" rIns="0">
            <a:spAutoFit/>
          </a:bodyPr>
          <a:lstStyle/>
          <a:p>
            <a:pPr>
              <a:defRPr sz="1600" b="1">
                <a:solidFill>
                  <a:srgbClr val="1A1A2E"/>
                </a:solidFill>
              </a:defRPr>
            </a:pPr>
            <a:r>
              <a:t>Tujuan Solutif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1920240"/>
            <a:ext cx="4663440" cy="692497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1000"/>
              </a:spcAft>
              <a:defRPr sz="1050">
                <a:solidFill>
                  <a:srgbClr val="282828"/>
                </a:solidFill>
              </a:defRPr>
            </a:pPr>
            <a:r>
              <a:rPr sz="1400" dirty="0" err="1"/>
              <a:t>Membangun</a:t>
            </a:r>
            <a:r>
              <a:rPr sz="1400" dirty="0"/>
              <a:t> </a:t>
            </a:r>
            <a:r>
              <a:rPr sz="1400" dirty="0" err="1"/>
              <a:t>sistem</a:t>
            </a:r>
            <a:r>
              <a:rPr sz="1400" dirty="0"/>
              <a:t> </a:t>
            </a:r>
            <a:r>
              <a:rPr sz="1400" dirty="0" err="1"/>
              <a:t>informasi</a:t>
            </a:r>
            <a:r>
              <a:rPr sz="1400" dirty="0"/>
              <a:t> </a:t>
            </a:r>
            <a:r>
              <a:rPr sz="1400" dirty="0" err="1"/>
              <a:t>TaskMate</a:t>
            </a:r>
            <a:r>
              <a:rPr sz="1400" dirty="0"/>
              <a:t> </a:t>
            </a:r>
            <a:r>
              <a:rPr sz="1400" dirty="0" err="1"/>
              <a:t>berbasis</a:t>
            </a:r>
            <a:r>
              <a:rPr sz="1400" dirty="0"/>
              <a:t> web </a:t>
            </a:r>
            <a:r>
              <a:rPr sz="1400" dirty="0" err="1"/>
              <a:t>untuk</a:t>
            </a:r>
            <a:r>
              <a:rPr sz="1400" dirty="0"/>
              <a:t> </a:t>
            </a:r>
            <a:r>
              <a:rPr sz="1400" dirty="0" err="1"/>
              <a:t>mengelola</a:t>
            </a:r>
            <a:r>
              <a:rPr sz="1400" dirty="0"/>
              <a:t> dan </a:t>
            </a:r>
            <a:r>
              <a:rPr sz="1400" dirty="0" err="1"/>
              <a:t>memonitor</a:t>
            </a:r>
            <a:r>
              <a:rPr sz="1400" dirty="0"/>
              <a:t> </a:t>
            </a:r>
            <a:r>
              <a:rPr sz="1400" dirty="0" err="1"/>
              <a:t>tugas</a:t>
            </a:r>
            <a:r>
              <a:rPr sz="1400" dirty="0"/>
              <a:t> </a:t>
            </a:r>
            <a:r>
              <a:rPr sz="1400" dirty="0" err="1"/>
              <a:t>akademik</a:t>
            </a:r>
            <a:r>
              <a:rPr sz="1400" dirty="0"/>
              <a:t> </a:t>
            </a:r>
            <a:r>
              <a:rPr sz="1400" dirty="0" err="1"/>
              <a:t>mahasiswa</a:t>
            </a:r>
            <a:r>
              <a:rPr sz="1400" dirty="0"/>
              <a:t> </a:t>
            </a:r>
            <a:r>
              <a:rPr sz="1400" dirty="0" err="1"/>
              <a:t>secara</a:t>
            </a:r>
            <a:r>
              <a:rPr sz="1400" dirty="0"/>
              <a:t> </a:t>
            </a:r>
            <a:r>
              <a:rPr sz="1400" dirty="0" err="1"/>
              <a:t>efisien</a:t>
            </a:r>
            <a:r>
              <a:rPr sz="1400" dirty="0"/>
              <a:t>, </a:t>
            </a:r>
            <a:r>
              <a:rPr sz="1400" dirty="0" err="1"/>
              <a:t>proaktif</a:t>
            </a:r>
            <a:r>
              <a:rPr sz="1400" dirty="0"/>
              <a:t>, dan real-time.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92240" y="2834640"/>
            <a:ext cx="2240280" cy="868680"/>
          </a:xfrm>
          <a:prstGeom prst="round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sz="1200" dirty="0"/>
              <a:t>Visual </a:t>
            </a:r>
            <a:r>
              <a:rPr lang="en-US" sz="1200" dirty="0"/>
              <a:t>Kanban Board</a:t>
            </a:r>
            <a:endParaRPr sz="1200" dirty="0"/>
          </a:p>
          <a:p>
            <a:pPr algn="ctr">
              <a:spcBef>
                <a:spcPts val="400"/>
              </a:spcBef>
              <a:defRPr sz="850">
                <a:solidFill>
                  <a:srgbClr val="F06292"/>
                </a:solidFill>
              </a:defRPr>
            </a:pPr>
            <a:r>
              <a:rPr sz="1100" dirty="0">
                <a:solidFill>
                  <a:schemeClr val="bg2"/>
                </a:solidFill>
              </a:rPr>
              <a:t>4 Papan Kolom </a:t>
            </a:r>
            <a:r>
              <a:rPr sz="1100" dirty="0" err="1">
                <a:solidFill>
                  <a:schemeClr val="bg2"/>
                </a:solidFill>
              </a:rPr>
              <a:t>Tugas</a:t>
            </a:r>
            <a:endParaRPr sz="1100" dirty="0">
              <a:solidFill>
                <a:schemeClr val="bg2"/>
              </a:solidFill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8915400" y="2834640"/>
            <a:ext cx="2240280" cy="868680"/>
          </a:xfrm>
          <a:prstGeom prst="round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sz="1200" dirty="0"/>
              <a:t>WhatsApp Gateway</a:t>
            </a:r>
          </a:p>
          <a:p>
            <a:pPr algn="ctr">
              <a:spcBef>
                <a:spcPts val="400"/>
              </a:spcBef>
              <a:defRPr sz="850">
                <a:solidFill>
                  <a:srgbClr val="F06292"/>
                </a:solidFill>
              </a:defRPr>
            </a:pPr>
            <a:r>
              <a:rPr sz="1100" dirty="0" err="1">
                <a:solidFill>
                  <a:schemeClr val="bg2"/>
                </a:solidFill>
              </a:rPr>
              <a:t>Fonnte</a:t>
            </a:r>
            <a:r>
              <a:rPr sz="1100" dirty="0">
                <a:solidFill>
                  <a:schemeClr val="bg2"/>
                </a:solidFill>
              </a:rPr>
              <a:t> Auto Reminder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92240" y="3886200"/>
            <a:ext cx="2240280" cy="868680"/>
          </a:xfrm>
          <a:prstGeom prst="round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sz="1200" dirty="0"/>
              <a:t>Multi-Role Access</a:t>
            </a:r>
          </a:p>
          <a:p>
            <a:pPr algn="ctr">
              <a:spcBef>
                <a:spcPts val="400"/>
              </a:spcBef>
              <a:defRPr sz="850">
                <a:solidFill>
                  <a:srgbClr val="F06292"/>
                </a:solidFill>
              </a:defRPr>
            </a:pPr>
            <a:r>
              <a:rPr sz="1100" dirty="0">
                <a:solidFill>
                  <a:schemeClr val="bg2"/>
                </a:solidFill>
              </a:rPr>
              <a:t>Admin &amp; </a:t>
            </a:r>
            <a:r>
              <a:rPr sz="1100" dirty="0" err="1">
                <a:solidFill>
                  <a:schemeClr val="bg2"/>
                </a:solidFill>
              </a:rPr>
              <a:t>Mahasiswa</a:t>
            </a:r>
            <a:r>
              <a:rPr sz="1100" dirty="0">
                <a:solidFill>
                  <a:schemeClr val="bg2"/>
                </a:solidFill>
              </a:rPr>
              <a:t> Guard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15400" y="3886200"/>
            <a:ext cx="2240280" cy="868680"/>
          </a:xfrm>
          <a:prstGeom prst="round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sz="1200" dirty="0"/>
              <a:t>Live Monitoring</a:t>
            </a:r>
          </a:p>
          <a:p>
            <a:pPr algn="ctr">
              <a:spcBef>
                <a:spcPts val="400"/>
              </a:spcBef>
              <a:defRPr sz="850">
                <a:solidFill>
                  <a:srgbClr val="F06292"/>
                </a:solidFill>
              </a:defRPr>
            </a:pPr>
            <a:r>
              <a:rPr sz="1100" dirty="0" err="1">
                <a:solidFill>
                  <a:schemeClr val="bg2"/>
                </a:solidFill>
              </a:rPr>
              <a:t>Statistik</a:t>
            </a:r>
            <a:r>
              <a:rPr sz="1100" dirty="0">
                <a:solidFill>
                  <a:schemeClr val="bg2"/>
                </a:solidFill>
              </a:rPr>
              <a:t> &amp; Audit Trail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92240" y="4937760"/>
            <a:ext cx="4663440" cy="7772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E91E63"/>
                </a:solidFill>
              </a:defRPr>
            </a:pPr>
            <a:r>
              <a:rPr sz="1100" dirty="0"/>
              <a:t>🎯 Output Akhir: </a:t>
            </a:r>
            <a:r>
              <a:rPr sz="1100" dirty="0" err="1"/>
              <a:t>Produktivitas</a:t>
            </a:r>
            <a:r>
              <a:rPr sz="1100" dirty="0"/>
              <a:t> </a:t>
            </a:r>
            <a:r>
              <a:rPr sz="1100" dirty="0" err="1"/>
              <a:t>belajar</a:t>
            </a:r>
            <a:r>
              <a:rPr sz="1100" dirty="0"/>
              <a:t> </a:t>
            </a:r>
            <a:r>
              <a:rPr sz="1100" dirty="0" err="1"/>
              <a:t>mahasiswa</a:t>
            </a:r>
            <a:r>
              <a:rPr sz="1100" dirty="0"/>
              <a:t> </a:t>
            </a:r>
            <a:r>
              <a:rPr sz="1100" dirty="0" err="1"/>
              <a:t>meningkat</a:t>
            </a:r>
            <a:r>
              <a:rPr sz="1100" dirty="0"/>
              <a:t>, </a:t>
            </a:r>
            <a:r>
              <a:rPr sz="1100" dirty="0" err="1"/>
              <a:t>angka</a:t>
            </a:r>
            <a:r>
              <a:rPr sz="1100" dirty="0"/>
              <a:t> </a:t>
            </a:r>
            <a:r>
              <a:rPr sz="1100" dirty="0" err="1"/>
              <a:t>keterlambatan</a:t>
            </a:r>
            <a:r>
              <a:rPr sz="1100" dirty="0"/>
              <a:t> </a:t>
            </a:r>
            <a:r>
              <a:rPr sz="1100" dirty="0" err="1"/>
              <a:t>tugas</a:t>
            </a:r>
            <a:r>
              <a:rPr sz="1100" dirty="0"/>
              <a:t> </a:t>
            </a:r>
            <a:r>
              <a:rPr sz="1100" dirty="0" err="1"/>
              <a:t>dapat</a:t>
            </a:r>
            <a:r>
              <a:rPr sz="1100" dirty="0"/>
              <a:t> </a:t>
            </a:r>
            <a:r>
              <a:rPr sz="1100" dirty="0" err="1"/>
              <a:t>diturunkan</a:t>
            </a:r>
            <a:r>
              <a:rPr sz="1100" dirty="0"/>
              <a:t> </a:t>
            </a:r>
            <a:r>
              <a:rPr sz="1100" dirty="0" err="1"/>
              <a:t>secara</a:t>
            </a:r>
            <a:r>
              <a:rPr sz="1100" dirty="0"/>
              <a:t> </a:t>
            </a:r>
            <a:r>
              <a:rPr sz="1100" dirty="0" err="1"/>
              <a:t>drastis</a:t>
            </a:r>
            <a:r>
              <a:rPr sz="1100"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06292"/>
                </a:solidFill>
                <a:latin typeface="Arial"/>
              </a:defRPr>
            </a:pPr>
            <a:r>
              <a:t>TASKMATE - PRESENTASI SIDANG PROYEK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Fitur Unggulan Aplikasi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787878"/>
                </a:solidFill>
                <a:latin typeface="Arial"/>
              </a:defRPr>
            </a:pPr>
            <a:r>
              <a:t>TaskMate v2.0 | D4 Teknik Informatika ULBI 2026 | Kelompok 22: M. Ilham Habiballah &amp; Gianjar Nugraha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00800"/>
            <a:ext cx="10698480" cy="18288"/>
          </a:xfrm>
          <a:prstGeom prst="rect">
            <a:avLst/>
          </a:prstGeom>
          <a:solidFill>
            <a:srgbClr val="F06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31520" y="1188720"/>
            <a:ext cx="52120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05840" y="1600200"/>
            <a:ext cx="914400" cy="914400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1417320"/>
            <a:ext cx="3566160" cy="12688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E91E63"/>
                </a:solidFill>
              </a:defRPr>
            </a:pPr>
            <a:r>
              <a:rPr dirty="0"/>
              <a:t>Multi-Role Authorization</a:t>
            </a:r>
          </a:p>
          <a:p>
            <a:pPr>
              <a:lnSpc>
                <a:spcPct val="115000"/>
              </a:lnSpc>
              <a:defRPr sz="1000">
                <a:solidFill>
                  <a:srgbClr val="282828"/>
                </a:solidFill>
              </a:defRPr>
            </a:pPr>
            <a:r>
              <a:rPr sz="1400" dirty="0" err="1"/>
              <a:t>Pemisahan</a:t>
            </a:r>
            <a:r>
              <a:rPr sz="1400" dirty="0"/>
              <a:t> </a:t>
            </a:r>
            <a:r>
              <a:rPr sz="1400" dirty="0" err="1"/>
              <a:t>hak</a:t>
            </a:r>
            <a:r>
              <a:rPr sz="1400" dirty="0"/>
              <a:t> </a:t>
            </a:r>
            <a:r>
              <a:rPr sz="1400" dirty="0" err="1"/>
              <a:t>akses</a:t>
            </a:r>
            <a:r>
              <a:rPr sz="1400" dirty="0"/>
              <a:t> </a:t>
            </a:r>
            <a:r>
              <a:rPr sz="1400" dirty="0" err="1"/>
              <a:t>aman</a:t>
            </a:r>
            <a:r>
              <a:rPr sz="1400" dirty="0"/>
              <a:t> </a:t>
            </a:r>
            <a:r>
              <a:rPr sz="1400" dirty="0" err="1"/>
              <a:t>menggunakan</a:t>
            </a:r>
            <a:r>
              <a:rPr sz="1400" dirty="0"/>
              <a:t> Guard Laravel (</a:t>
            </a:r>
            <a:r>
              <a:rPr sz="1400" dirty="0" err="1"/>
              <a:t>Mahasiswa</a:t>
            </a:r>
            <a:r>
              <a:rPr sz="1400" dirty="0"/>
              <a:t> </a:t>
            </a:r>
            <a:r>
              <a:rPr sz="1400" dirty="0" err="1"/>
              <a:t>untuk</a:t>
            </a:r>
            <a:r>
              <a:rPr sz="1400" dirty="0"/>
              <a:t> workspace </a:t>
            </a:r>
            <a:r>
              <a:rPr sz="1400" dirty="0" err="1"/>
              <a:t>tugas</a:t>
            </a:r>
            <a:r>
              <a:rPr sz="1400" dirty="0"/>
              <a:t> </a:t>
            </a:r>
            <a:r>
              <a:rPr sz="1400" dirty="0" err="1"/>
              <a:t>terisolasi</a:t>
            </a:r>
            <a:r>
              <a:rPr sz="1400" dirty="0"/>
              <a:t>, Admin </a:t>
            </a:r>
            <a:r>
              <a:rPr sz="1400" dirty="0" err="1"/>
              <a:t>untuk</a:t>
            </a:r>
            <a:r>
              <a:rPr sz="1400" dirty="0"/>
              <a:t> </a:t>
            </a:r>
            <a:r>
              <a:rPr sz="1400" dirty="0" err="1"/>
              <a:t>dasbor</a:t>
            </a:r>
            <a:r>
              <a:rPr sz="1400" dirty="0"/>
              <a:t> </a:t>
            </a:r>
            <a:r>
              <a:rPr sz="1400" dirty="0" err="1"/>
              <a:t>pengawasan</a:t>
            </a:r>
            <a:r>
              <a:rPr sz="1400" dirty="0"/>
              <a:t> &amp; monitoring global).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188720"/>
            <a:ext cx="52120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492240" y="1600200"/>
            <a:ext cx="914400" cy="914400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1417320"/>
            <a:ext cx="3566160" cy="12688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E91E63"/>
                </a:solidFill>
              </a:defRPr>
            </a:pPr>
            <a:r>
              <a:rPr dirty="0"/>
              <a:t>Visual Kanban Board</a:t>
            </a:r>
          </a:p>
          <a:p>
            <a:pPr>
              <a:lnSpc>
                <a:spcPct val="115000"/>
              </a:lnSpc>
              <a:defRPr sz="1000">
                <a:solidFill>
                  <a:srgbClr val="282828"/>
                </a:solidFill>
              </a:defRPr>
            </a:pPr>
            <a:r>
              <a:rPr sz="1400" dirty="0" err="1"/>
              <a:t>Manajemen</a:t>
            </a:r>
            <a:r>
              <a:rPr sz="1400" dirty="0"/>
              <a:t> </a:t>
            </a:r>
            <a:r>
              <a:rPr sz="1400" dirty="0" err="1"/>
              <a:t>tugas</a:t>
            </a:r>
            <a:r>
              <a:rPr sz="1400" dirty="0"/>
              <a:t> </a:t>
            </a:r>
            <a:r>
              <a:rPr sz="1400" dirty="0" err="1"/>
              <a:t>dengan</a:t>
            </a:r>
            <a:r>
              <a:rPr sz="1400" dirty="0"/>
              <a:t> 4 </a:t>
            </a:r>
            <a:r>
              <a:rPr sz="1400" dirty="0" err="1"/>
              <a:t>kolom</a:t>
            </a:r>
            <a:r>
              <a:rPr sz="1400" dirty="0"/>
              <a:t> visual (To Do, Doing, Review, Done) </a:t>
            </a:r>
            <a:r>
              <a:rPr sz="1400" dirty="0" err="1"/>
              <a:t>didukung</a:t>
            </a:r>
            <a:r>
              <a:rPr sz="1400" dirty="0"/>
              <a:t> </a:t>
            </a:r>
            <a:r>
              <a:rPr sz="1400" dirty="0" err="1"/>
              <a:t>SortableJS</a:t>
            </a:r>
            <a:r>
              <a:rPr sz="1400" dirty="0"/>
              <a:t> drag-and-drop dan auto-done 100% checklist sub-</a:t>
            </a:r>
            <a:r>
              <a:rPr sz="1400" dirty="0" err="1"/>
              <a:t>tugas</a:t>
            </a:r>
            <a:r>
              <a:rPr sz="1400" dirty="0"/>
              <a:t>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566160"/>
            <a:ext cx="52120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05840" y="3977640"/>
            <a:ext cx="914400" cy="914400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3794760"/>
            <a:ext cx="3566160" cy="12688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E91E63"/>
                </a:solidFill>
              </a:defRPr>
            </a:pPr>
            <a:r>
              <a:rPr dirty="0"/>
              <a:t>WhatsApp Gateway Reminder</a:t>
            </a:r>
          </a:p>
          <a:p>
            <a:pPr>
              <a:lnSpc>
                <a:spcPct val="115000"/>
              </a:lnSpc>
              <a:defRPr sz="1000">
                <a:solidFill>
                  <a:srgbClr val="282828"/>
                </a:solidFill>
              </a:defRPr>
            </a:pPr>
            <a:r>
              <a:rPr sz="1400" dirty="0" err="1"/>
              <a:t>Pengingat</a:t>
            </a:r>
            <a:r>
              <a:rPr sz="1400" dirty="0"/>
              <a:t> </a:t>
            </a:r>
            <a:r>
              <a:rPr sz="1400" dirty="0" err="1"/>
              <a:t>otomatis</a:t>
            </a:r>
            <a:r>
              <a:rPr sz="1400" dirty="0"/>
              <a:t> </a:t>
            </a:r>
            <a:r>
              <a:rPr sz="1400" dirty="0" err="1"/>
              <a:t>tenggat</a:t>
            </a:r>
            <a:r>
              <a:rPr sz="1400" dirty="0"/>
              <a:t> </a:t>
            </a:r>
            <a:r>
              <a:rPr sz="1400" dirty="0" err="1"/>
              <a:t>waktu</a:t>
            </a:r>
            <a:r>
              <a:rPr sz="1400" dirty="0"/>
              <a:t> H-5 &amp; H-2 </a:t>
            </a:r>
            <a:r>
              <a:rPr sz="1400" dirty="0" err="1"/>
              <a:t>sebelum</a:t>
            </a:r>
            <a:r>
              <a:rPr sz="1400" dirty="0"/>
              <a:t> batas </a:t>
            </a:r>
            <a:r>
              <a:rPr sz="1400" dirty="0" err="1"/>
              <a:t>waktu</a:t>
            </a:r>
            <a:r>
              <a:rPr sz="1400" dirty="0"/>
              <a:t> </a:t>
            </a:r>
            <a:r>
              <a:rPr sz="1400" dirty="0" err="1"/>
              <a:t>berakhir</a:t>
            </a:r>
            <a:r>
              <a:rPr sz="1400" dirty="0"/>
              <a:t> </a:t>
            </a:r>
            <a:r>
              <a:rPr sz="1400" dirty="0" err="1"/>
              <a:t>secara</a:t>
            </a:r>
            <a:r>
              <a:rPr sz="1400" dirty="0"/>
              <a:t> </a:t>
            </a:r>
            <a:r>
              <a:rPr sz="1400" dirty="0" err="1"/>
              <a:t>terjadwal</a:t>
            </a:r>
            <a:r>
              <a:rPr sz="1400" dirty="0"/>
              <a:t> (Laravel Cron Scheduler) </a:t>
            </a:r>
            <a:r>
              <a:rPr sz="1400" dirty="0" err="1"/>
              <a:t>langsung</a:t>
            </a:r>
            <a:r>
              <a:rPr sz="1400" dirty="0"/>
              <a:t> </a:t>
            </a:r>
            <a:r>
              <a:rPr sz="1400" dirty="0" err="1"/>
              <a:t>ke</a:t>
            </a:r>
            <a:r>
              <a:rPr sz="1400" dirty="0"/>
              <a:t> WhatsApp via </a:t>
            </a:r>
            <a:r>
              <a:rPr sz="1400" dirty="0" err="1"/>
              <a:t>Fonnte</a:t>
            </a:r>
            <a:r>
              <a:rPr sz="1400" dirty="0"/>
              <a:t> API.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566160"/>
            <a:ext cx="52120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492240" y="3977640"/>
            <a:ext cx="914400" cy="914400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3794760"/>
            <a:ext cx="3566160" cy="102111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E91E63"/>
                </a:solidFill>
              </a:defRPr>
            </a:pPr>
            <a:r>
              <a:rPr dirty="0"/>
              <a:t>Live Monitoring &amp; Audit Log</a:t>
            </a:r>
          </a:p>
          <a:p>
            <a:pPr>
              <a:lnSpc>
                <a:spcPct val="115000"/>
              </a:lnSpc>
              <a:defRPr sz="1000">
                <a:solidFill>
                  <a:srgbClr val="282828"/>
                </a:solidFill>
              </a:defRPr>
            </a:pPr>
            <a:r>
              <a:rPr sz="1400" dirty="0"/>
              <a:t>Dasbor </a:t>
            </a:r>
            <a:r>
              <a:rPr sz="1400" dirty="0" err="1"/>
              <a:t>analitik</a:t>
            </a:r>
            <a:r>
              <a:rPr sz="1400" dirty="0"/>
              <a:t> monitoring </a:t>
            </a:r>
            <a:r>
              <a:rPr sz="1400" dirty="0" err="1"/>
              <a:t>progres</a:t>
            </a:r>
            <a:r>
              <a:rPr sz="1400" dirty="0"/>
              <a:t> board </a:t>
            </a:r>
            <a:r>
              <a:rPr sz="1400" dirty="0" err="1"/>
              <a:t>mahasiswa</a:t>
            </a:r>
            <a:r>
              <a:rPr sz="1400" dirty="0"/>
              <a:t> </a:t>
            </a:r>
            <a:r>
              <a:rPr sz="1400" dirty="0" err="1"/>
              <a:t>secara</a:t>
            </a:r>
            <a:r>
              <a:rPr sz="1400" dirty="0"/>
              <a:t> real-time dan tracking audit trail log </a:t>
            </a:r>
            <a:r>
              <a:rPr sz="1400" dirty="0" err="1"/>
              <a:t>aktivitas</a:t>
            </a:r>
            <a:r>
              <a:rPr sz="1400" dirty="0"/>
              <a:t> </a:t>
            </a:r>
            <a:r>
              <a:rPr sz="1400" dirty="0" err="1"/>
              <a:t>sistem</a:t>
            </a:r>
            <a:r>
              <a:rPr sz="1400" dirty="0"/>
              <a:t> </a:t>
            </a:r>
            <a:r>
              <a:rPr sz="1400" dirty="0" err="1"/>
              <a:t>untuk</a:t>
            </a:r>
            <a:r>
              <a:rPr sz="1400" dirty="0"/>
              <a:t> </a:t>
            </a:r>
            <a:r>
              <a:rPr sz="1400" dirty="0" err="1"/>
              <a:t>transparansi</a:t>
            </a:r>
            <a:r>
              <a:rPr sz="1400"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06292"/>
                </a:solidFill>
                <a:latin typeface="Arial"/>
              </a:defRPr>
            </a:pPr>
            <a:r>
              <a:t>TASKMATE - PRESENTASI SIDANG PROYEK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Alur Kerja Operasional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787878"/>
                </a:solidFill>
                <a:latin typeface="Arial"/>
              </a:defRPr>
            </a:pPr>
            <a:r>
              <a:t>TaskMate v2.0 | D4 Teknik Informatika ULBI 2026 | Kelompok 22: M. Ilham Habiballah &amp; Gianjar Nugraha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00800"/>
            <a:ext cx="10698480" cy="18288"/>
          </a:xfrm>
          <a:prstGeom prst="rect">
            <a:avLst/>
          </a:prstGeom>
          <a:solidFill>
            <a:srgbClr val="F06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31520" y="1188720"/>
            <a:ext cx="521208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325880"/>
            <a:ext cx="4846320" cy="411480"/>
          </a:xfrm>
          <a:prstGeom prst="rect">
            <a:avLst/>
          </a:prstGeom>
          <a:noFill/>
        </p:spPr>
        <p:txBody>
          <a:bodyPr wrap="none" lIns="0" tIns="0" rIns="0">
            <a:spAutoFit/>
          </a:bodyPr>
          <a:lstStyle/>
          <a:p>
            <a:pPr algn="ctr">
              <a:defRPr sz="1300" b="1">
                <a:solidFill>
                  <a:srgbClr val="E91E63"/>
                </a:solidFill>
              </a:defRPr>
            </a:pPr>
            <a:r>
              <a:t>👤 PENGELOLAAN TUGAS (MAHASISWA)</a:t>
            </a:r>
          </a:p>
        </p:txBody>
      </p:sp>
      <p:sp>
        <p:nvSpPr>
          <p:cNvPr id="10" name="Oval 9"/>
          <p:cNvSpPr/>
          <p:nvPr/>
        </p:nvSpPr>
        <p:spPr>
          <a:xfrm>
            <a:off x="1005840" y="1828800"/>
            <a:ext cx="411480" cy="411480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783080"/>
            <a:ext cx="4206240" cy="441146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defRPr sz="1100" b="1">
                <a:solidFill>
                  <a:srgbClr val="1A1A2E"/>
                </a:solidFill>
              </a:defRPr>
            </a:pPr>
            <a:r>
              <a:rPr sz="1200" dirty="0" err="1"/>
              <a:t>Pilih</a:t>
            </a:r>
            <a:r>
              <a:rPr sz="1200" dirty="0"/>
              <a:t> </a:t>
            </a:r>
            <a:r>
              <a:rPr sz="1200" dirty="0" err="1"/>
              <a:t>Kriteria</a:t>
            </a:r>
            <a:r>
              <a:rPr sz="1200" dirty="0"/>
              <a:t> / Modul</a:t>
            </a:r>
          </a:p>
          <a:p>
            <a:pPr>
              <a:spcBef>
                <a:spcPts val="200"/>
              </a:spcBef>
              <a:defRPr sz="950">
                <a:solidFill>
                  <a:srgbClr val="282828"/>
                </a:solidFill>
              </a:defRPr>
            </a:pPr>
            <a:r>
              <a:rPr sz="1200" dirty="0" err="1"/>
              <a:t>Mahasiswa</a:t>
            </a:r>
            <a:r>
              <a:rPr sz="1200" dirty="0"/>
              <a:t> input </a:t>
            </a:r>
            <a:r>
              <a:rPr sz="1200" dirty="0" err="1"/>
              <a:t>tugas</a:t>
            </a:r>
            <a:r>
              <a:rPr sz="1200" dirty="0"/>
              <a:t> </a:t>
            </a:r>
            <a:r>
              <a:rPr sz="1200" dirty="0" err="1"/>
              <a:t>akademik</a:t>
            </a:r>
            <a:r>
              <a:rPr sz="1200" dirty="0"/>
              <a:t> </a:t>
            </a:r>
            <a:r>
              <a:rPr sz="1200" dirty="0" err="1"/>
              <a:t>beserta</a:t>
            </a:r>
            <a:r>
              <a:rPr sz="1200" dirty="0"/>
              <a:t> </a:t>
            </a:r>
            <a:r>
              <a:rPr sz="1200" dirty="0" err="1"/>
              <a:t>prioritas</a:t>
            </a:r>
            <a:r>
              <a:rPr sz="1200" dirty="0"/>
              <a:t> &amp; sub-</a:t>
            </a:r>
            <a:r>
              <a:rPr sz="1200" dirty="0" err="1"/>
              <a:t>tugas</a:t>
            </a:r>
            <a:r>
              <a:rPr sz="1200" dirty="0"/>
              <a:t>.</a:t>
            </a:r>
          </a:p>
        </p:txBody>
      </p:sp>
      <p:sp>
        <p:nvSpPr>
          <p:cNvPr id="12" name="Oval 11"/>
          <p:cNvSpPr/>
          <p:nvPr/>
        </p:nvSpPr>
        <p:spPr>
          <a:xfrm>
            <a:off x="1005840" y="2606040"/>
            <a:ext cx="411480" cy="411480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560320"/>
            <a:ext cx="4206240" cy="441146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defRPr sz="1100" b="1">
                <a:solidFill>
                  <a:srgbClr val="1A1A2E"/>
                </a:solidFill>
              </a:defRPr>
            </a:pPr>
            <a:r>
              <a:rPr sz="1200" dirty="0"/>
              <a:t>Kanban Lifecycle</a:t>
            </a:r>
          </a:p>
          <a:p>
            <a:pPr>
              <a:spcBef>
                <a:spcPts val="200"/>
              </a:spcBef>
              <a:defRPr sz="950">
                <a:solidFill>
                  <a:srgbClr val="282828"/>
                </a:solidFill>
              </a:defRPr>
            </a:pPr>
            <a:r>
              <a:rPr sz="1200" dirty="0" err="1"/>
              <a:t>Menyeret</a:t>
            </a:r>
            <a:r>
              <a:rPr sz="1200" dirty="0"/>
              <a:t> </a:t>
            </a:r>
            <a:r>
              <a:rPr sz="1200" dirty="0" err="1"/>
              <a:t>kartu</a:t>
            </a:r>
            <a:r>
              <a:rPr sz="1200" dirty="0"/>
              <a:t> </a:t>
            </a:r>
            <a:r>
              <a:rPr sz="1200" dirty="0" err="1"/>
              <a:t>tugas</a:t>
            </a:r>
            <a:r>
              <a:rPr sz="1200" dirty="0"/>
              <a:t> (To Do -&gt; Doing -&gt; Review -&gt; Done) via AJAX.</a:t>
            </a:r>
          </a:p>
        </p:txBody>
      </p:sp>
      <p:sp>
        <p:nvSpPr>
          <p:cNvPr id="14" name="Oval 13"/>
          <p:cNvSpPr/>
          <p:nvPr/>
        </p:nvSpPr>
        <p:spPr>
          <a:xfrm>
            <a:off x="1005840" y="3383280"/>
            <a:ext cx="411480" cy="411480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337560"/>
            <a:ext cx="4206240" cy="441146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defRPr sz="1100" b="1">
                <a:solidFill>
                  <a:srgbClr val="1A1A2E"/>
                </a:solidFill>
              </a:defRPr>
            </a:pPr>
            <a:r>
              <a:rPr sz="1200" dirty="0"/>
              <a:t>Auto-Done Checklist</a:t>
            </a:r>
          </a:p>
          <a:p>
            <a:pPr>
              <a:spcBef>
                <a:spcPts val="200"/>
              </a:spcBef>
              <a:defRPr sz="950">
                <a:solidFill>
                  <a:srgbClr val="282828"/>
                </a:solidFill>
              </a:defRPr>
            </a:pPr>
            <a:r>
              <a:rPr sz="1200" dirty="0" err="1"/>
              <a:t>Tugas</a:t>
            </a:r>
            <a:r>
              <a:rPr sz="1200" dirty="0"/>
              <a:t> </a:t>
            </a:r>
            <a:r>
              <a:rPr sz="1200" dirty="0" err="1"/>
              <a:t>otomatis</a:t>
            </a:r>
            <a:r>
              <a:rPr sz="1200" dirty="0"/>
              <a:t> </a:t>
            </a:r>
            <a:r>
              <a:rPr sz="1200" dirty="0" err="1"/>
              <a:t>bergeser</a:t>
            </a:r>
            <a:r>
              <a:rPr sz="1200" dirty="0"/>
              <a:t> </a:t>
            </a:r>
            <a:r>
              <a:rPr sz="1200" dirty="0" err="1"/>
              <a:t>ke</a:t>
            </a:r>
            <a:r>
              <a:rPr sz="1200" dirty="0"/>
              <a:t> 'Done' </a:t>
            </a:r>
            <a:r>
              <a:rPr sz="1200" dirty="0" err="1"/>
              <a:t>ketika</a:t>
            </a:r>
            <a:r>
              <a:rPr sz="1200" dirty="0"/>
              <a:t> sub-</a:t>
            </a:r>
            <a:r>
              <a:rPr sz="1200" dirty="0" err="1"/>
              <a:t>tugas</a:t>
            </a:r>
            <a:r>
              <a:rPr sz="1200" dirty="0"/>
              <a:t> </a:t>
            </a:r>
            <a:r>
              <a:rPr sz="1200" dirty="0" err="1"/>
              <a:t>mencapai</a:t>
            </a:r>
            <a:r>
              <a:rPr sz="1200" dirty="0"/>
              <a:t> 100%.</a:t>
            </a:r>
          </a:p>
        </p:txBody>
      </p:sp>
      <p:sp>
        <p:nvSpPr>
          <p:cNvPr id="16" name="Oval 15"/>
          <p:cNvSpPr/>
          <p:nvPr/>
        </p:nvSpPr>
        <p:spPr>
          <a:xfrm>
            <a:off x="1005840" y="4160520"/>
            <a:ext cx="411480" cy="411480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114800"/>
            <a:ext cx="4206240" cy="625812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defRPr sz="1100" b="1">
                <a:solidFill>
                  <a:srgbClr val="1A1A2E"/>
                </a:solidFill>
              </a:defRPr>
            </a:pPr>
            <a:r>
              <a:rPr sz="1200" dirty="0" err="1"/>
              <a:t>Terima</a:t>
            </a:r>
            <a:r>
              <a:rPr sz="1200" dirty="0"/>
              <a:t> WhatsApp Reminder</a:t>
            </a:r>
          </a:p>
          <a:p>
            <a:pPr>
              <a:spcBef>
                <a:spcPts val="200"/>
              </a:spcBef>
              <a:defRPr sz="950">
                <a:solidFill>
                  <a:srgbClr val="282828"/>
                </a:solidFill>
              </a:defRPr>
            </a:pPr>
            <a:r>
              <a:rPr sz="1200" dirty="0" err="1"/>
              <a:t>Notifikasi</a:t>
            </a:r>
            <a:r>
              <a:rPr sz="1200" dirty="0"/>
              <a:t> WA Gateway </a:t>
            </a:r>
            <a:r>
              <a:rPr sz="1200" dirty="0" err="1"/>
              <a:t>diterima</a:t>
            </a:r>
            <a:r>
              <a:rPr sz="1200" dirty="0"/>
              <a:t> </a:t>
            </a:r>
            <a:r>
              <a:rPr sz="1200" dirty="0" err="1"/>
              <a:t>otomatis</a:t>
            </a:r>
            <a:r>
              <a:rPr sz="1200" dirty="0"/>
              <a:t> H-5 &amp; H-2 </a:t>
            </a:r>
            <a:r>
              <a:rPr sz="1200" dirty="0" err="1"/>
              <a:t>sebelum</a:t>
            </a:r>
            <a:r>
              <a:rPr sz="1200" dirty="0"/>
              <a:t> deadline.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188720"/>
            <a:ext cx="521208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0" y="1325880"/>
            <a:ext cx="4846320" cy="411480"/>
          </a:xfrm>
          <a:prstGeom prst="rect">
            <a:avLst/>
          </a:prstGeom>
          <a:noFill/>
        </p:spPr>
        <p:txBody>
          <a:bodyPr wrap="none" lIns="0" tIns="0" rIns="0">
            <a:spAutoFit/>
          </a:bodyPr>
          <a:lstStyle/>
          <a:p>
            <a:pPr algn="ctr">
              <a:defRPr sz="1300" b="1">
                <a:solidFill>
                  <a:srgbClr val="1A1A2E"/>
                </a:solidFill>
              </a:defRPr>
            </a:pPr>
            <a:r>
              <a:t>🔐 MONITORING &amp; VERIFIKASI (ADMIN)</a:t>
            </a:r>
          </a:p>
        </p:txBody>
      </p:sp>
      <p:sp>
        <p:nvSpPr>
          <p:cNvPr id="20" name="Oval 19"/>
          <p:cNvSpPr/>
          <p:nvPr/>
        </p:nvSpPr>
        <p:spPr>
          <a:xfrm>
            <a:off x="6492240" y="1828800"/>
            <a:ext cx="411480" cy="411480"/>
          </a:xfrm>
          <a:prstGeom prst="ellipse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1783080"/>
            <a:ext cx="4206240" cy="441146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defRPr sz="1100" b="1">
                <a:solidFill>
                  <a:srgbClr val="1A1A2E"/>
                </a:solidFill>
              </a:defRPr>
            </a:pPr>
            <a:r>
              <a:rPr sz="1200" dirty="0"/>
              <a:t>Akses Dashboard Admin</a:t>
            </a:r>
          </a:p>
          <a:p>
            <a:pPr>
              <a:spcBef>
                <a:spcPts val="200"/>
              </a:spcBef>
              <a:defRPr sz="950">
                <a:solidFill>
                  <a:srgbClr val="282828"/>
                </a:solidFill>
              </a:defRPr>
            </a:pPr>
            <a:r>
              <a:rPr sz="1200" dirty="0" err="1"/>
              <a:t>Memantau</a:t>
            </a:r>
            <a:r>
              <a:rPr sz="1200" dirty="0"/>
              <a:t> </a:t>
            </a:r>
            <a:r>
              <a:rPr sz="1200" dirty="0" err="1"/>
              <a:t>performa</a:t>
            </a:r>
            <a:r>
              <a:rPr sz="1200" dirty="0"/>
              <a:t>, </a:t>
            </a:r>
            <a:r>
              <a:rPr sz="1200" dirty="0" err="1"/>
              <a:t>grafik</a:t>
            </a:r>
            <a:r>
              <a:rPr sz="1200" dirty="0"/>
              <a:t> </a:t>
            </a:r>
            <a:r>
              <a:rPr sz="1200" dirty="0" err="1"/>
              <a:t>tugas</a:t>
            </a:r>
            <a:r>
              <a:rPr sz="1200" dirty="0"/>
              <a:t>, dan </a:t>
            </a:r>
            <a:r>
              <a:rPr sz="1200" dirty="0" err="1"/>
              <a:t>statistik</a:t>
            </a:r>
            <a:r>
              <a:rPr sz="1200" dirty="0"/>
              <a:t> </a:t>
            </a:r>
            <a:r>
              <a:rPr sz="1200" dirty="0" err="1"/>
              <a:t>keaktifan</a:t>
            </a:r>
            <a:r>
              <a:rPr sz="1200" dirty="0"/>
              <a:t> global.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2606040"/>
            <a:ext cx="411480" cy="411480"/>
          </a:xfrm>
          <a:prstGeom prst="ellipse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2560320"/>
            <a:ext cx="4206240" cy="441146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defRPr sz="1100" b="1">
                <a:solidFill>
                  <a:srgbClr val="1A1A2E"/>
                </a:solidFill>
              </a:defRPr>
            </a:pPr>
            <a:r>
              <a:rPr sz="1200" dirty="0"/>
              <a:t>Live Board Monitoring</a:t>
            </a:r>
          </a:p>
          <a:p>
            <a:pPr>
              <a:spcBef>
                <a:spcPts val="200"/>
              </a:spcBef>
              <a:defRPr sz="950">
                <a:solidFill>
                  <a:srgbClr val="282828"/>
                </a:solidFill>
              </a:defRPr>
            </a:pPr>
            <a:r>
              <a:rPr sz="1200" dirty="0" err="1"/>
              <a:t>Mengecek</a:t>
            </a:r>
            <a:r>
              <a:rPr sz="1200" dirty="0"/>
              <a:t> </a:t>
            </a:r>
            <a:r>
              <a:rPr sz="1200" dirty="0" err="1"/>
              <a:t>progres</a:t>
            </a:r>
            <a:r>
              <a:rPr sz="1200" dirty="0"/>
              <a:t> Kanban board live masing-masing </a:t>
            </a:r>
            <a:r>
              <a:rPr sz="1200" dirty="0" err="1"/>
              <a:t>mahasiswa</a:t>
            </a:r>
            <a:r>
              <a:rPr sz="1200" dirty="0"/>
              <a:t>.</a:t>
            </a:r>
          </a:p>
        </p:txBody>
      </p:sp>
      <p:sp>
        <p:nvSpPr>
          <p:cNvPr id="24" name="Oval 23"/>
          <p:cNvSpPr/>
          <p:nvPr/>
        </p:nvSpPr>
        <p:spPr>
          <a:xfrm>
            <a:off x="6492240" y="3383280"/>
            <a:ext cx="411480" cy="411480"/>
          </a:xfrm>
          <a:prstGeom prst="ellipse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3337560"/>
            <a:ext cx="4206240" cy="441146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defRPr sz="1100" b="1">
                <a:solidFill>
                  <a:srgbClr val="1A1A2E"/>
                </a:solidFill>
              </a:defRPr>
            </a:pPr>
            <a:r>
              <a:rPr sz="1200" dirty="0"/>
              <a:t>Audit Log Activity</a:t>
            </a:r>
          </a:p>
          <a:p>
            <a:pPr>
              <a:spcBef>
                <a:spcPts val="200"/>
              </a:spcBef>
              <a:defRPr sz="950">
                <a:solidFill>
                  <a:srgbClr val="282828"/>
                </a:solidFill>
              </a:defRPr>
            </a:pPr>
            <a:r>
              <a:rPr sz="1200" dirty="0" err="1"/>
              <a:t>Memverifikasi</a:t>
            </a:r>
            <a:r>
              <a:rPr sz="1200" dirty="0"/>
              <a:t> log audit trail digital </a:t>
            </a:r>
            <a:r>
              <a:rPr sz="1200" dirty="0" err="1"/>
              <a:t>transaksi</a:t>
            </a:r>
            <a:r>
              <a:rPr sz="1200" dirty="0"/>
              <a:t> </a:t>
            </a:r>
            <a:r>
              <a:rPr sz="1200" dirty="0" err="1"/>
              <a:t>tindakan</a:t>
            </a:r>
            <a:r>
              <a:rPr sz="1200" dirty="0"/>
              <a:t> </a:t>
            </a:r>
            <a:r>
              <a:rPr sz="1200" dirty="0" err="1"/>
              <a:t>mahasiswa</a:t>
            </a:r>
            <a:r>
              <a:rPr sz="1200" dirty="0"/>
              <a:t>.</a:t>
            </a:r>
          </a:p>
        </p:txBody>
      </p:sp>
      <p:sp>
        <p:nvSpPr>
          <p:cNvPr id="26" name="Oval 25"/>
          <p:cNvSpPr/>
          <p:nvPr/>
        </p:nvSpPr>
        <p:spPr>
          <a:xfrm>
            <a:off x="6492240" y="4160520"/>
            <a:ext cx="411480" cy="411480"/>
          </a:xfrm>
          <a:prstGeom prst="ellipse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4114800"/>
            <a:ext cx="4206240" cy="625812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defRPr sz="1100" b="1">
                <a:solidFill>
                  <a:srgbClr val="1A1A2E"/>
                </a:solidFill>
              </a:defRPr>
            </a:pPr>
            <a:r>
              <a:rPr sz="1200" dirty="0"/>
              <a:t>Trigger WhatsApp Scheduler</a:t>
            </a:r>
          </a:p>
          <a:p>
            <a:pPr>
              <a:spcBef>
                <a:spcPts val="200"/>
              </a:spcBef>
              <a:defRPr sz="950">
                <a:solidFill>
                  <a:srgbClr val="282828"/>
                </a:solidFill>
              </a:defRPr>
            </a:pPr>
            <a:r>
              <a:rPr sz="1200" dirty="0" err="1"/>
              <a:t>Memicu</a:t>
            </a:r>
            <a:r>
              <a:rPr sz="1200" dirty="0"/>
              <a:t> </a:t>
            </a:r>
            <a:r>
              <a:rPr sz="1200" dirty="0" err="1"/>
              <a:t>pengiriman</a:t>
            </a:r>
            <a:r>
              <a:rPr sz="1200" dirty="0"/>
              <a:t> reminder </a:t>
            </a:r>
            <a:r>
              <a:rPr sz="1200" dirty="0" err="1"/>
              <a:t>terjadwal</a:t>
            </a:r>
            <a:r>
              <a:rPr sz="1200" dirty="0"/>
              <a:t> </a:t>
            </a:r>
            <a:r>
              <a:rPr sz="1200" dirty="0" err="1"/>
              <a:t>lewat</a:t>
            </a:r>
            <a:r>
              <a:rPr sz="1200" dirty="0"/>
              <a:t> CLI command </a:t>
            </a:r>
            <a:r>
              <a:rPr sz="1200" dirty="0" err="1"/>
              <a:t>Fonnte</a:t>
            </a:r>
            <a:r>
              <a:rPr sz="1200" dirty="0"/>
              <a:t>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286000" y="5486400"/>
            <a:ext cx="7619695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50" b="1">
                <a:solidFill>
                  <a:srgbClr val="FFFFFF"/>
                </a:solidFill>
                <a:latin typeface="Arial"/>
              </a:defRPr>
            </a:pPr>
            <a:r>
              <a:t>TUGAS AKADEMIK SELESAI &amp; TERMONITOR SECARA EFEKTIF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06292"/>
                </a:solidFill>
                <a:latin typeface="Arial"/>
              </a:defRPr>
            </a:pPr>
            <a:r>
              <a:t>TASKMATE - PRESENTASI SIDANG PROYEK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Kesimpulan &amp; Integrasi WhatsApp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787878"/>
                </a:solidFill>
                <a:latin typeface="Arial"/>
              </a:defRPr>
            </a:pPr>
            <a:r>
              <a:t>TaskMate v2.0 | D4 Teknik Informatika ULBI 2026 | Kelompok 22: M. Ilham Habiballah &amp; Gianjar Nugraha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00800"/>
            <a:ext cx="10698480" cy="18288"/>
          </a:xfrm>
          <a:prstGeom prst="rect">
            <a:avLst/>
          </a:prstGeom>
          <a:solidFill>
            <a:srgbClr val="F06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31520" y="1188720"/>
            <a:ext cx="548640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05840" y="1371600"/>
            <a:ext cx="411480" cy="411480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371600"/>
            <a:ext cx="4572000" cy="411480"/>
          </a:xfrm>
          <a:prstGeom prst="rect">
            <a:avLst/>
          </a:prstGeom>
          <a:noFill/>
        </p:spPr>
        <p:txBody>
          <a:bodyPr wrap="none" lIns="0" tIns="0" rIns="0">
            <a:spAutoFit/>
          </a:bodyPr>
          <a:lstStyle/>
          <a:p>
            <a:pPr>
              <a:defRPr sz="1600" b="1">
                <a:solidFill>
                  <a:srgbClr val="1A1A2E"/>
                </a:solidFill>
              </a:defRPr>
            </a:pPr>
            <a:r>
              <a:rPr dirty="0"/>
              <a:t>Kesimpulan </a:t>
            </a:r>
            <a:r>
              <a:rPr dirty="0" err="1"/>
              <a:t>Implementasi</a:t>
            </a:r>
            <a:endParaRPr dirty="0"/>
          </a:p>
        </p:txBody>
      </p:sp>
      <p:sp>
        <p:nvSpPr>
          <p:cNvPr id="11" name="Oval 10"/>
          <p:cNvSpPr/>
          <p:nvPr/>
        </p:nvSpPr>
        <p:spPr>
          <a:xfrm>
            <a:off x="1005840" y="1920240"/>
            <a:ext cx="384048" cy="384048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1874520"/>
            <a:ext cx="4572000" cy="641201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defRPr sz="1150" b="1">
                <a:solidFill>
                  <a:srgbClr val="1A1A2E"/>
                </a:solidFill>
              </a:defRPr>
            </a:pPr>
            <a:r>
              <a:rPr sz="1300" dirty="0" err="1"/>
              <a:t>Mendigitalisasi</a:t>
            </a:r>
            <a:r>
              <a:rPr sz="1300" dirty="0"/>
              <a:t> Papan </a:t>
            </a:r>
            <a:r>
              <a:rPr sz="1300" dirty="0" err="1"/>
              <a:t>Kerja</a:t>
            </a:r>
            <a:endParaRPr sz="1300" dirty="0"/>
          </a:p>
          <a:p>
            <a:pPr>
              <a:spcBef>
                <a:spcPts val="200"/>
              </a:spcBef>
              <a:defRPr sz="1000">
                <a:solidFill>
                  <a:srgbClr val="282828"/>
                </a:solidFill>
              </a:defRPr>
            </a:pPr>
            <a:r>
              <a:rPr sz="1200" dirty="0" err="1"/>
              <a:t>Mengubah</a:t>
            </a:r>
            <a:r>
              <a:rPr sz="1200" dirty="0"/>
              <a:t> </a:t>
            </a:r>
            <a:r>
              <a:rPr sz="1200" dirty="0" err="1"/>
              <a:t>sistem</a:t>
            </a:r>
            <a:r>
              <a:rPr sz="1200" dirty="0"/>
              <a:t> </a:t>
            </a:r>
            <a:r>
              <a:rPr sz="1200" dirty="0" err="1"/>
              <a:t>pencatatan</a:t>
            </a:r>
            <a:r>
              <a:rPr sz="1200" dirty="0"/>
              <a:t> manual </a:t>
            </a:r>
            <a:r>
              <a:rPr sz="1200" dirty="0" err="1"/>
              <a:t>menjadi</a:t>
            </a:r>
            <a:r>
              <a:rPr sz="1200" dirty="0"/>
              <a:t> visual Kanban Board </a:t>
            </a:r>
            <a:r>
              <a:rPr sz="1200" dirty="0" err="1"/>
              <a:t>terpusat</a:t>
            </a:r>
            <a:r>
              <a:rPr sz="1200" dirty="0"/>
              <a:t>.</a:t>
            </a:r>
          </a:p>
        </p:txBody>
      </p:sp>
      <p:sp>
        <p:nvSpPr>
          <p:cNvPr id="13" name="Oval 12"/>
          <p:cNvSpPr/>
          <p:nvPr/>
        </p:nvSpPr>
        <p:spPr>
          <a:xfrm>
            <a:off x="1005840" y="2926080"/>
            <a:ext cx="384048" cy="384048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880360"/>
            <a:ext cx="4572000" cy="641201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defRPr sz="1150" b="1">
                <a:solidFill>
                  <a:srgbClr val="1A1A2E"/>
                </a:solidFill>
              </a:defRPr>
            </a:pPr>
            <a:r>
              <a:rPr sz="1300" dirty="0" err="1"/>
              <a:t>Efektivitas</a:t>
            </a:r>
            <a:r>
              <a:rPr sz="1300" dirty="0"/>
              <a:t> WhatsApp Gateway</a:t>
            </a:r>
          </a:p>
          <a:p>
            <a:pPr>
              <a:spcBef>
                <a:spcPts val="200"/>
              </a:spcBef>
              <a:defRPr sz="1000">
                <a:solidFill>
                  <a:srgbClr val="282828"/>
                </a:solidFill>
              </a:defRPr>
            </a:pPr>
            <a:r>
              <a:rPr sz="1200" dirty="0" err="1"/>
              <a:t>Notifikasi</a:t>
            </a:r>
            <a:r>
              <a:rPr sz="1200" dirty="0"/>
              <a:t> </a:t>
            </a:r>
            <a:r>
              <a:rPr sz="1200" dirty="0" err="1"/>
              <a:t>proaktif</a:t>
            </a:r>
            <a:r>
              <a:rPr sz="1200" dirty="0"/>
              <a:t> H-5 &amp; H-2 </a:t>
            </a:r>
            <a:r>
              <a:rPr sz="1200" dirty="0" err="1"/>
              <a:t>berhasil</a:t>
            </a:r>
            <a:r>
              <a:rPr sz="1200" dirty="0"/>
              <a:t> </a:t>
            </a:r>
            <a:r>
              <a:rPr sz="1200" dirty="0" err="1"/>
              <a:t>meminimalkan</a:t>
            </a:r>
            <a:r>
              <a:rPr sz="1200" dirty="0"/>
              <a:t> </a:t>
            </a:r>
            <a:r>
              <a:rPr sz="1200" dirty="0" err="1"/>
              <a:t>keterlambatan</a:t>
            </a:r>
            <a:r>
              <a:rPr sz="1200" dirty="0"/>
              <a:t> </a:t>
            </a:r>
            <a:r>
              <a:rPr sz="1200" dirty="0" err="1"/>
              <a:t>pengumpulan</a:t>
            </a:r>
            <a:r>
              <a:rPr dirty="0"/>
              <a:t>.</a:t>
            </a:r>
          </a:p>
        </p:txBody>
      </p:sp>
      <p:sp>
        <p:nvSpPr>
          <p:cNvPr id="15" name="Oval 14"/>
          <p:cNvSpPr/>
          <p:nvPr/>
        </p:nvSpPr>
        <p:spPr>
          <a:xfrm>
            <a:off x="1005840" y="3931920"/>
            <a:ext cx="384048" cy="384048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886200"/>
            <a:ext cx="4572000" cy="641201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defRPr sz="1150" b="1">
                <a:solidFill>
                  <a:srgbClr val="1A1A2E"/>
                </a:solidFill>
              </a:defRPr>
            </a:pPr>
            <a:r>
              <a:rPr sz="1300" dirty="0" err="1"/>
              <a:t>Kemudahan</a:t>
            </a:r>
            <a:r>
              <a:rPr sz="1300" dirty="0"/>
              <a:t> </a:t>
            </a:r>
            <a:r>
              <a:rPr sz="1300" dirty="0" err="1"/>
              <a:t>Pengawasan</a:t>
            </a:r>
            <a:endParaRPr sz="1300" dirty="0"/>
          </a:p>
          <a:p>
            <a:pPr>
              <a:spcBef>
                <a:spcPts val="200"/>
              </a:spcBef>
              <a:defRPr sz="1000">
                <a:solidFill>
                  <a:srgbClr val="282828"/>
                </a:solidFill>
              </a:defRPr>
            </a:pPr>
            <a:r>
              <a:rPr sz="1200" dirty="0"/>
              <a:t>Dasbor admin </a:t>
            </a:r>
            <a:r>
              <a:rPr sz="1200" dirty="0" err="1"/>
              <a:t>mempermudah</a:t>
            </a:r>
            <a:r>
              <a:rPr sz="1200" dirty="0"/>
              <a:t> monitor </a:t>
            </a:r>
            <a:r>
              <a:rPr sz="1200" dirty="0" err="1"/>
              <a:t>progres</a:t>
            </a:r>
            <a:r>
              <a:rPr sz="1200" dirty="0"/>
              <a:t> </a:t>
            </a:r>
            <a:r>
              <a:rPr sz="1200" dirty="0" err="1"/>
              <a:t>tugas</a:t>
            </a:r>
            <a:r>
              <a:rPr sz="1200" dirty="0"/>
              <a:t> real-time &amp; audit activity trail.</a:t>
            </a:r>
          </a:p>
        </p:txBody>
      </p:sp>
      <p:sp>
        <p:nvSpPr>
          <p:cNvPr id="17" name="Oval 16"/>
          <p:cNvSpPr/>
          <p:nvPr/>
        </p:nvSpPr>
        <p:spPr>
          <a:xfrm>
            <a:off x="1005840" y="4937760"/>
            <a:ext cx="384048" cy="384048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892040"/>
            <a:ext cx="4572000" cy="641201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defRPr sz="1150" b="1">
                <a:solidFill>
                  <a:srgbClr val="1A1A2E"/>
                </a:solidFill>
              </a:defRPr>
            </a:pPr>
            <a:r>
              <a:rPr sz="1300" dirty="0"/>
              <a:t>Pusat </a:t>
            </a:r>
            <a:r>
              <a:rPr sz="1300" dirty="0" err="1"/>
              <a:t>Bantuan</a:t>
            </a:r>
            <a:r>
              <a:rPr sz="1300" dirty="0"/>
              <a:t> </a:t>
            </a:r>
            <a:r>
              <a:rPr sz="1300" dirty="0" err="1"/>
              <a:t>Terpadu</a:t>
            </a:r>
            <a:endParaRPr sz="1300" dirty="0"/>
          </a:p>
          <a:p>
            <a:pPr>
              <a:spcBef>
                <a:spcPts val="200"/>
              </a:spcBef>
              <a:defRPr sz="1000">
                <a:solidFill>
                  <a:srgbClr val="282828"/>
                </a:solidFill>
              </a:defRPr>
            </a:pPr>
            <a:r>
              <a:rPr sz="1200" dirty="0"/>
              <a:t>Fitur Direct Help Center WA </a:t>
            </a:r>
            <a:r>
              <a:rPr sz="1200" dirty="0" err="1"/>
              <a:t>mempercepat</a:t>
            </a:r>
            <a:r>
              <a:rPr sz="1200" dirty="0"/>
              <a:t> </a:t>
            </a:r>
            <a:r>
              <a:rPr sz="1200" dirty="0" err="1"/>
              <a:t>penyelesaian</a:t>
            </a:r>
            <a:r>
              <a:rPr sz="1200" dirty="0"/>
              <a:t> </a:t>
            </a:r>
            <a:r>
              <a:rPr sz="1200" dirty="0" err="1"/>
              <a:t>aduan</a:t>
            </a:r>
            <a:r>
              <a:rPr sz="1200" dirty="0"/>
              <a:t> </a:t>
            </a:r>
            <a:r>
              <a:rPr sz="1200" dirty="0" err="1"/>
              <a:t>kendala</a:t>
            </a:r>
            <a:r>
              <a:rPr sz="1200" dirty="0"/>
              <a:t> </a:t>
            </a:r>
            <a:r>
              <a:rPr sz="1200" dirty="0" err="1"/>
              <a:t>dari</a:t>
            </a:r>
            <a:r>
              <a:rPr sz="1200" dirty="0"/>
              <a:t> </a:t>
            </a:r>
            <a:r>
              <a:rPr sz="1200" dirty="0" err="1"/>
              <a:t>mahasiswa</a:t>
            </a:r>
            <a:r>
              <a:rPr sz="1200" dirty="0"/>
              <a:t>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188720"/>
            <a:ext cx="502920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675120" y="1371600"/>
            <a:ext cx="411480" cy="411480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1371600"/>
            <a:ext cx="4114800" cy="411480"/>
          </a:xfrm>
          <a:prstGeom prst="rect">
            <a:avLst/>
          </a:prstGeom>
          <a:noFill/>
        </p:spPr>
        <p:txBody>
          <a:bodyPr wrap="none" lIns="0" tIns="0" rIns="0">
            <a:spAutoFit/>
          </a:bodyPr>
          <a:lstStyle/>
          <a:p>
            <a:pPr>
              <a:defRPr sz="1500" b="1">
                <a:solidFill>
                  <a:srgbClr val="1A1A2E"/>
                </a:solidFill>
              </a:defRPr>
            </a:pPr>
            <a:r>
              <a:t>Sistem Notifikasi WhatsApp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0" y="1837426"/>
            <a:ext cx="4198620" cy="34747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451342" y="1874520"/>
            <a:ext cx="928115" cy="104241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745856" y="5440680"/>
            <a:ext cx="4310763" cy="411480"/>
          </a:xfrm>
          <a:prstGeom prst="round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rPr dirty="0"/>
              <a:t>WHATSAPP GATEWAY INTEGRATED - FONNTE API VERIFIED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801A183E-74DF-8D67-098C-221CF6CF51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0860" y="2407432"/>
            <a:ext cx="4114800" cy="211996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651</Words>
  <Application>Microsoft Office PowerPoint</Application>
  <PresentationFormat>Widescreen</PresentationFormat>
  <Paragraphs>101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muhammad ilham</cp:lastModifiedBy>
  <cp:revision>2</cp:revision>
  <dcterms:created xsi:type="dcterms:W3CDTF">2013-01-27T09:14:16Z</dcterms:created>
  <dcterms:modified xsi:type="dcterms:W3CDTF">2026-07-28T19:16:11Z</dcterms:modified>
  <cp:category/>
</cp:coreProperties>
</file>